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2" r:id="rId6"/>
    <p:sldId id="266" r:id="rId7"/>
    <p:sldId id="263" r:id="rId8"/>
    <p:sldId id="264"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0E2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6" d="100"/>
          <a:sy n="66" d="100"/>
        </p:scale>
        <p:origin x="15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3A147BC-380B-4AD0-80D8-7E36EFEE7E15}" type="datetimeFigureOut">
              <a:rPr lang="en-US" smtClean="0"/>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C20F76-BB08-4916-8CE2-12C2CA24A058}" type="slidenum">
              <a:rPr lang="en-US" smtClean="0"/>
              <a:t>‹#›</a:t>
            </a:fld>
            <a:endParaRPr lang="en-US"/>
          </a:p>
        </p:txBody>
      </p:sp>
    </p:spTree>
    <p:extLst>
      <p:ext uri="{BB962C8B-B14F-4D97-AF65-F5344CB8AC3E}">
        <p14:creationId xmlns:p14="http://schemas.microsoft.com/office/powerpoint/2010/main" val="4288380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3A147BC-380B-4AD0-80D8-7E36EFEE7E15}" type="datetimeFigureOut">
              <a:rPr lang="en-US" smtClean="0"/>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C20F76-BB08-4916-8CE2-12C2CA24A058}" type="slidenum">
              <a:rPr lang="en-US" smtClean="0"/>
              <a:t>‹#›</a:t>
            </a:fld>
            <a:endParaRPr lang="en-US"/>
          </a:p>
        </p:txBody>
      </p:sp>
    </p:spTree>
    <p:extLst>
      <p:ext uri="{BB962C8B-B14F-4D97-AF65-F5344CB8AC3E}">
        <p14:creationId xmlns:p14="http://schemas.microsoft.com/office/powerpoint/2010/main" val="7019150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3A147BC-380B-4AD0-80D8-7E36EFEE7E15}" type="datetimeFigureOut">
              <a:rPr lang="en-US" smtClean="0"/>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C20F76-BB08-4916-8CE2-12C2CA24A058}" type="slidenum">
              <a:rPr lang="en-US" smtClean="0"/>
              <a:t>‹#›</a:t>
            </a:fld>
            <a:endParaRPr lang="en-US"/>
          </a:p>
        </p:txBody>
      </p:sp>
    </p:spTree>
    <p:extLst>
      <p:ext uri="{BB962C8B-B14F-4D97-AF65-F5344CB8AC3E}">
        <p14:creationId xmlns:p14="http://schemas.microsoft.com/office/powerpoint/2010/main" val="12319166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3A147BC-380B-4AD0-80D8-7E36EFEE7E15}" type="datetimeFigureOut">
              <a:rPr lang="en-US" smtClean="0"/>
              <a:t>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C20F76-BB08-4916-8CE2-12C2CA24A058}" type="slidenum">
              <a:rPr lang="en-US" smtClean="0"/>
              <a:t>‹#›</a:t>
            </a:fld>
            <a:endParaRPr lang="en-US"/>
          </a:p>
        </p:txBody>
      </p:sp>
    </p:spTree>
    <p:extLst>
      <p:ext uri="{BB962C8B-B14F-4D97-AF65-F5344CB8AC3E}">
        <p14:creationId xmlns:p14="http://schemas.microsoft.com/office/powerpoint/2010/main" val="37951426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3A147BC-380B-4AD0-80D8-7E36EFEE7E15}" type="datetimeFigureOut">
              <a:rPr lang="en-US" smtClean="0"/>
              <a:t>1/14/2024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BC20F76-BB08-4916-8CE2-12C2CA24A058}" type="slidenum">
              <a:rPr lang="en-US" smtClean="0"/>
              <a:t>‹#›</a:t>
            </a:fld>
            <a:endParaRPr lang="en-US"/>
          </a:p>
        </p:txBody>
      </p:sp>
    </p:spTree>
    <p:extLst>
      <p:ext uri="{BB962C8B-B14F-4D97-AF65-F5344CB8AC3E}">
        <p14:creationId xmlns:p14="http://schemas.microsoft.com/office/powerpoint/2010/main" val="29288026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3A147BC-380B-4AD0-80D8-7E36EFEE7E15}" type="datetimeFigureOut">
              <a:rPr lang="en-US" smtClean="0"/>
              <a:t>1/14/2024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BC20F76-BB08-4916-8CE2-12C2CA24A058}" type="slidenum">
              <a:rPr lang="en-US" smtClean="0"/>
              <a:t>‹#›</a:t>
            </a:fld>
            <a:endParaRPr lang="en-US"/>
          </a:p>
        </p:txBody>
      </p:sp>
    </p:spTree>
    <p:extLst>
      <p:ext uri="{BB962C8B-B14F-4D97-AF65-F5344CB8AC3E}">
        <p14:creationId xmlns:p14="http://schemas.microsoft.com/office/powerpoint/2010/main" val="22973616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A147BC-380B-4AD0-80D8-7E36EFEE7E15}" type="datetimeFigureOut">
              <a:rPr lang="en-US" smtClean="0"/>
              <a:t>1/14/2024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BC20F76-BB08-4916-8CE2-12C2CA24A058}" type="slidenum">
              <a:rPr lang="en-US" smtClean="0"/>
              <a:t>‹#›</a:t>
            </a:fld>
            <a:endParaRPr lang="en-US"/>
          </a:p>
        </p:txBody>
      </p:sp>
    </p:spTree>
    <p:extLst>
      <p:ext uri="{BB962C8B-B14F-4D97-AF65-F5344CB8AC3E}">
        <p14:creationId xmlns:p14="http://schemas.microsoft.com/office/powerpoint/2010/main" val="35934192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3A147BC-380B-4AD0-80D8-7E36EFEE7E15}" type="datetimeFigureOut">
              <a:rPr lang="en-US" smtClean="0"/>
              <a:t>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C20F76-BB08-4916-8CE2-12C2CA24A058}" type="slidenum">
              <a:rPr lang="en-US" smtClean="0"/>
              <a:t>‹#›</a:t>
            </a:fld>
            <a:endParaRPr lang="en-US"/>
          </a:p>
        </p:txBody>
      </p:sp>
    </p:spTree>
    <p:extLst>
      <p:ext uri="{BB962C8B-B14F-4D97-AF65-F5344CB8AC3E}">
        <p14:creationId xmlns:p14="http://schemas.microsoft.com/office/powerpoint/2010/main" val="4473866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3A147BC-380B-4AD0-80D8-7E36EFEE7E15}" type="datetimeFigureOut">
              <a:rPr lang="en-US" smtClean="0"/>
              <a:t>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C20F76-BB08-4916-8CE2-12C2CA24A058}" type="slidenum">
              <a:rPr lang="en-US" smtClean="0"/>
              <a:t>‹#›</a:t>
            </a:fld>
            <a:endParaRPr lang="en-US"/>
          </a:p>
        </p:txBody>
      </p:sp>
    </p:spTree>
    <p:extLst>
      <p:ext uri="{BB962C8B-B14F-4D97-AF65-F5344CB8AC3E}">
        <p14:creationId xmlns:p14="http://schemas.microsoft.com/office/powerpoint/2010/main" val="8459708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3A147BC-380B-4AD0-80D8-7E36EFEE7E15}" type="datetimeFigureOut">
              <a:rPr lang="en-US" smtClean="0"/>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C20F76-BB08-4916-8CE2-12C2CA24A058}" type="slidenum">
              <a:rPr lang="en-US" smtClean="0"/>
              <a:t>‹#›</a:t>
            </a:fld>
            <a:endParaRPr lang="en-US"/>
          </a:p>
        </p:txBody>
      </p:sp>
    </p:spTree>
    <p:extLst>
      <p:ext uri="{BB962C8B-B14F-4D97-AF65-F5344CB8AC3E}">
        <p14:creationId xmlns:p14="http://schemas.microsoft.com/office/powerpoint/2010/main" val="12224978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3A147BC-380B-4AD0-80D8-7E36EFEE7E15}" type="datetimeFigureOut">
              <a:rPr lang="en-US" smtClean="0"/>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C20F76-BB08-4916-8CE2-12C2CA24A058}" type="slidenum">
              <a:rPr lang="en-US" smtClean="0"/>
              <a:t>‹#›</a:t>
            </a:fld>
            <a:endParaRPr lang="en-US"/>
          </a:p>
        </p:txBody>
      </p:sp>
    </p:spTree>
    <p:extLst>
      <p:ext uri="{BB962C8B-B14F-4D97-AF65-F5344CB8AC3E}">
        <p14:creationId xmlns:p14="http://schemas.microsoft.com/office/powerpoint/2010/main" val="4043534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A147BC-380B-4AD0-80D8-7E36EFEE7E15}" type="datetimeFigureOut">
              <a:rPr lang="en-US" smtClean="0"/>
              <a:t>1/14/2024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C20F76-BB08-4916-8CE2-12C2CA24A058}" type="slidenum">
              <a:rPr lang="en-US" smtClean="0"/>
              <a:t>‹#›</a:t>
            </a:fld>
            <a:endParaRPr lang="en-US"/>
          </a:p>
        </p:txBody>
      </p:sp>
    </p:spTree>
    <p:extLst>
      <p:ext uri="{BB962C8B-B14F-4D97-AF65-F5344CB8AC3E}">
        <p14:creationId xmlns:p14="http://schemas.microsoft.com/office/powerpoint/2010/main" val="34982446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kaggle.com/Spotify-2023" TargetMode="External"/><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hyperlink" Target="https://www.kaggle.com/Spotify-2023" TargetMode="Externa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hyperlink" Target="https://www.kaggle.com/Spotify-2023" TargetMode="Externa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hyperlink" Target="https://www.kaggle.com/Spotify-2023" TargetMode="Externa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6.xml"/><Relationship Id="rId5" Type="http://schemas.openxmlformats.org/officeDocument/2006/relationships/image" Target="../media/image3.png"/><Relationship Id="rId4" Type="http://schemas.openxmlformats.org/officeDocument/2006/relationships/hyperlink" Target="https://www.kaggle.com/Spotify-2023" TargetMode="Externa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6.xml"/><Relationship Id="rId5" Type="http://schemas.openxmlformats.org/officeDocument/2006/relationships/image" Target="../media/image4.png"/><Relationship Id="rId4" Type="http://schemas.openxmlformats.org/officeDocument/2006/relationships/hyperlink" Target="https://www.kaggle.com/Spotify-2023" TargetMode="Externa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hyperlink" Target="https://www.kaggle.com/Spotify-2023"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kaggle.com/Spotify-2023" TargetMode="Externa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www.kaggle.com/Spotify-2023" TargetMode="External"/><Relationship Id="rId1" Type="http://schemas.openxmlformats.org/officeDocument/2006/relationships/slideLayout" Target="../slideLayouts/slideLayout6.xml"/><Relationship Id="rId6" Type="http://schemas.microsoft.com/office/2007/relationships/hdphoto" Target="../media/hdphoto3.wdp"/><Relationship Id="rId5" Type="http://schemas.openxmlformats.org/officeDocument/2006/relationships/image" Target="../media/image7.png"/><Relationship Id="rId4" Type="http://schemas.microsoft.com/office/2007/relationships/hdphoto" Target="../media/hdphoto2.wdp"/></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00B050"/>
            </a:gs>
            <a:gs pos="71000">
              <a:schemeClr val="tx1"/>
            </a:gs>
            <a:gs pos="92857">
              <a:schemeClr val="tx1"/>
            </a:gs>
            <a:gs pos="86000">
              <a:srgbClr val="0C6434">
                <a:lumMod val="70000"/>
              </a:srgbClr>
            </a:gs>
            <a:gs pos="0">
              <a:schemeClr val="bg2">
                <a:lumMod val="0"/>
              </a:schemeClr>
            </a:gs>
          </a:gsLst>
          <a:lin ang="5400000" scaled="1"/>
        </a:gradFill>
        <a:effectLst/>
      </p:bgPr>
    </p:bg>
    <p:spTree>
      <p:nvGrpSpPr>
        <p:cNvPr id="1" name=""/>
        <p:cNvGrpSpPr/>
        <p:nvPr/>
      </p:nvGrpSpPr>
      <p:grpSpPr>
        <a:xfrm>
          <a:off x="0" y="0"/>
          <a:ext cx="0" cy="0"/>
          <a:chOff x="0" y="0"/>
          <a:chExt cx="0" cy="0"/>
        </a:xfrm>
      </p:grpSpPr>
      <p:sp>
        <p:nvSpPr>
          <p:cNvPr id="12" name="Rectangle 11"/>
          <p:cNvSpPr/>
          <p:nvPr/>
        </p:nvSpPr>
        <p:spPr>
          <a:xfrm>
            <a:off x="-22861" y="0"/>
            <a:ext cx="12260580" cy="542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flipH="1">
            <a:off x="-22861" y="0"/>
            <a:ext cx="4571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flipH="1">
            <a:off x="12169141" y="0"/>
            <a:ext cx="68578" cy="679706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38154" y="126608"/>
            <a:ext cx="6515692" cy="3703801"/>
          </a:xfrm>
          <a:prstGeom prst="rect">
            <a:avLst/>
          </a:prstGeom>
          <a:ln>
            <a:noFill/>
          </a:ln>
          <a:effectLst>
            <a:outerShdw blurRad="292100" dist="139700" dir="2700000" algn="tl" rotWithShape="0">
              <a:srgbClr val="333333">
                <a:alpha val="65000"/>
              </a:srgbClr>
            </a:outerShdw>
          </a:effectLst>
        </p:spPr>
      </p:pic>
      <p:sp>
        <p:nvSpPr>
          <p:cNvPr id="10" name="Title 9"/>
          <p:cNvSpPr>
            <a:spLocks noGrp="1"/>
          </p:cNvSpPr>
          <p:nvPr>
            <p:ph type="title"/>
          </p:nvPr>
        </p:nvSpPr>
        <p:spPr>
          <a:xfrm>
            <a:off x="45719" y="6012240"/>
            <a:ext cx="10515600" cy="784823"/>
          </a:xfrm>
        </p:spPr>
        <p:txBody>
          <a:bodyPr>
            <a:normAutofit/>
          </a:bodyPr>
          <a:lstStyle/>
          <a:p>
            <a:r>
              <a:rPr lang="en-US" sz="1800" b="1" dirty="0" smtClean="0">
                <a:solidFill>
                  <a:schemeClr val="accent3"/>
                </a:solidFill>
                <a:latin typeface="+mn-lt"/>
              </a:rPr>
              <a:t>Dataset source: </a:t>
            </a:r>
            <a:r>
              <a:rPr lang="en-US" sz="1800" b="1" dirty="0" smtClean="0">
                <a:solidFill>
                  <a:schemeClr val="accent3"/>
                </a:solidFill>
                <a:latin typeface="+mn-lt"/>
                <a:hlinkClick r:id="rId3"/>
              </a:rPr>
              <a:t>https://www.kaggle.com/Spotify-2023</a:t>
            </a:r>
            <a:r>
              <a:rPr lang="en-US" sz="1800" b="1" dirty="0" smtClean="0">
                <a:solidFill>
                  <a:schemeClr val="accent3"/>
                </a:solidFill>
                <a:latin typeface="+mn-lt"/>
              </a:rPr>
              <a:t> </a:t>
            </a:r>
            <a:r>
              <a:rPr lang="en-US" sz="1800" b="1" dirty="0" smtClean="0">
                <a:solidFill>
                  <a:schemeClr val="tx1">
                    <a:lumMod val="65000"/>
                    <a:lumOff val="35000"/>
                  </a:schemeClr>
                </a:solidFill>
                <a:latin typeface="+mn-lt"/>
              </a:rPr>
              <a:t>updated: 17/12/2023</a:t>
            </a:r>
            <a:endParaRPr lang="en-US" sz="1800" b="1" dirty="0">
              <a:solidFill>
                <a:schemeClr val="tx1">
                  <a:lumMod val="65000"/>
                  <a:lumOff val="35000"/>
                </a:schemeClr>
              </a:solidFill>
              <a:latin typeface="+mn-lt"/>
            </a:endParaRPr>
          </a:p>
        </p:txBody>
      </p:sp>
      <p:sp>
        <p:nvSpPr>
          <p:cNvPr id="11" name="Content Placeholder 10"/>
          <p:cNvSpPr>
            <a:spLocks noGrp="1"/>
          </p:cNvSpPr>
          <p:nvPr>
            <p:ph idx="4294967295"/>
          </p:nvPr>
        </p:nvSpPr>
        <p:spPr>
          <a:xfrm>
            <a:off x="3038622" y="3902735"/>
            <a:ext cx="5895975" cy="1428750"/>
          </a:xfrm>
        </p:spPr>
        <p:txBody>
          <a:bodyPr>
            <a:normAutofit/>
          </a:bodyPr>
          <a:lstStyle/>
          <a:p>
            <a:pPr marL="0" indent="0" algn="ctr">
              <a:buNone/>
            </a:pPr>
            <a:r>
              <a:rPr lang="en-US" sz="4000" b="1" u="sng" dirty="0" smtClean="0">
                <a:solidFill>
                  <a:srgbClr val="00B050"/>
                </a:solidFill>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SPOTIFY ANALYSIS</a:t>
            </a:r>
          </a:p>
          <a:p>
            <a:pPr marL="0" indent="0" algn="ctr">
              <a:buNone/>
            </a:pPr>
            <a:r>
              <a:rPr lang="en-US" sz="2300" b="1" dirty="0" smtClean="0">
                <a:solidFill>
                  <a:schemeClr val="bg1"/>
                </a:solidFill>
                <a:latin typeface="Microsoft YaHei UI" panose="020B0503020204020204" pitchFamily="34" charset="-122"/>
                <a:ea typeface="Microsoft YaHei UI" panose="020B0503020204020204" pitchFamily="34" charset="-122"/>
              </a:rPr>
              <a:t>- </a:t>
            </a:r>
            <a:r>
              <a:rPr lang="en-US" sz="2300" b="1" u="sng" dirty="0" smtClean="0">
                <a:solidFill>
                  <a:schemeClr val="bg1"/>
                </a:solidFill>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Thomas</a:t>
            </a:r>
            <a:r>
              <a:rPr lang="en-US" sz="2300" b="1" dirty="0" smtClean="0">
                <a:solidFill>
                  <a:schemeClr val="bg1"/>
                </a:solidFill>
                <a:latin typeface="Microsoft YaHei UI" panose="020B0503020204020204" pitchFamily="34" charset="-122"/>
                <a:ea typeface="Microsoft YaHei UI" panose="020B0503020204020204" pitchFamily="34" charset="-122"/>
              </a:rPr>
              <a:t> </a:t>
            </a:r>
            <a:r>
              <a:rPr lang="en-US" sz="2300" b="1" u="sng" dirty="0">
                <a:solidFill>
                  <a:schemeClr val="bg1"/>
                </a:solidFill>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Moses</a:t>
            </a:r>
            <a:r>
              <a:rPr lang="en-US" sz="2300" b="1" dirty="0" smtClean="0">
                <a:solidFill>
                  <a:schemeClr val="bg1"/>
                </a:solidFill>
                <a:latin typeface="Microsoft YaHei UI" panose="020B0503020204020204" pitchFamily="34" charset="-122"/>
                <a:ea typeface="Microsoft YaHei UI" panose="020B0503020204020204" pitchFamily="34" charset="-122"/>
              </a:rPr>
              <a:t> - </a:t>
            </a:r>
            <a:r>
              <a:rPr lang="en-US" sz="2300" b="1" u="sng" dirty="0">
                <a:solidFill>
                  <a:schemeClr val="bg1"/>
                </a:solidFill>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Data</a:t>
            </a:r>
            <a:r>
              <a:rPr lang="en-US" sz="2300" b="1" dirty="0" smtClean="0">
                <a:solidFill>
                  <a:schemeClr val="bg1"/>
                </a:solidFill>
                <a:latin typeface="Microsoft YaHei UI" panose="020B0503020204020204" pitchFamily="34" charset="-122"/>
                <a:ea typeface="Microsoft YaHei UI" panose="020B0503020204020204" pitchFamily="34" charset="-122"/>
              </a:rPr>
              <a:t> </a:t>
            </a:r>
            <a:r>
              <a:rPr lang="en-US" sz="2300" b="1" u="sng" dirty="0">
                <a:solidFill>
                  <a:schemeClr val="bg1"/>
                </a:solidFill>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rPr>
              <a:t>Analyst</a:t>
            </a:r>
          </a:p>
        </p:txBody>
      </p:sp>
      <p:sp>
        <p:nvSpPr>
          <p:cNvPr id="3" name="Rectangle 2"/>
          <p:cNvSpPr/>
          <p:nvPr/>
        </p:nvSpPr>
        <p:spPr>
          <a:xfrm>
            <a:off x="10561319" y="6404651"/>
            <a:ext cx="1539780" cy="338554"/>
          </a:xfrm>
          <a:prstGeom prst="rect">
            <a:avLst/>
          </a:prstGeom>
        </p:spPr>
        <p:txBody>
          <a:bodyPr wrap="none">
            <a:spAutoFit/>
          </a:bodyPr>
          <a:lstStyle/>
          <a:p>
            <a:r>
              <a:rPr lang="en-US" sz="1600" b="1" i="1" u="sng" dirty="0">
                <a:solidFill>
                  <a:srgbClr val="002060"/>
                </a:solidFill>
              </a:rPr>
              <a:t>PowerBI Project</a:t>
            </a:r>
          </a:p>
        </p:txBody>
      </p:sp>
    </p:spTree>
    <p:extLst>
      <p:ext uri="{BB962C8B-B14F-4D97-AF65-F5344CB8AC3E}">
        <p14:creationId xmlns:p14="http://schemas.microsoft.com/office/powerpoint/2010/main" val="299934650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00B050">
                <a:lumMod val="73000"/>
              </a:srgbClr>
            </a:gs>
            <a:gs pos="71000">
              <a:schemeClr val="tx1"/>
            </a:gs>
            <a:gs pos="92857">
              <a:schemeClr val="tx1"/>
            </a:gs>
            <a:gs pos="86000">
              <a:srgbClr val="0C6434">
                <a:lumMod val="70000"/>
              </a:srgbClr>
            </a:gs>
            <a:gs pos="63000">
              <a:schemeClr val="bg2">
                <a:lumMod val="0"/>
              </a:schemeClr>
            </a:gs>
          </a:gsLst>
          <a:lin ang="5400000" scaled="1"/>
        </a:gradFill>
        <a:effectLst/>
      </p:bgPr>
    </p:bg>
    <p:spTree>
      <p:nvGrpSpPr>
        <p:cNvPr id="1" name=""/>
        <p:cNvGrpSpPr/>
        <p:nvPr/>
      </p:nvGrpSpPr>
      <p:grpSpPr>
        <a:xfrm>
          <a:off x="0" y="0"/>
          <a:ext cx="0" cy="0"/>
          <a:chOff x="0" y="0"/>
          <a:chExt cx="0" cy="0"/>
        </a:xfrm>
      </p:grpSpPr>
      <p:sp>
        <p:nvSpPr>
          <p:cNvPr id="12" name="Rectangle 11"/>
          <p:cNvSpPr/>
          <p:nvPr/>
        </p:nvSpPr>
        <p:spPr>
          <a:xfrm>
            <a:off x="-22861" y="0"/>
            <a:ext cx="12260580" cy="542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flipH="1">
            <a:off x="-22861" y="0"/>
            <a:ext cx="4571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flipH="1">
            <a:off x="12169141" y="0"/>
            <a:ext cx="68578" cy="679706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p:cNvPicPr>
            <a:picLocks noChangeAspect="1"/>
          </p:cNvPicPr>
          <p:nvPr/>
        </p:nvPicPr>
        <p:blipFill>
          <a:blip r:embed="rId2" cstate="print">
            <a:extLst>
              <a:ext uri="{BEBA8EAE-BF5A-486C-A8C5-ECC9F3942E4B}">
                <a14:imgProps xmlns:a14="http://schemas.microsoft.com/office/drawing/2010/main">
                  <a14:imgLayer r:embed="rId3">
                    <a14:imgEffect>
                      <a14:sharpenSoften amount="60000"/>
                    </a14:imgEffect>
                    <a14:imgEffect>
                      <a14:brightnessContrast bright="-92000"/>
                    </a14:imgEffect>
                  </a14:imgLayer>
                </a14:imgProps>
              </a:ext>
              <a:ext uri="{28A0092B-C50C-407E-A947-70E740481C1C}">
                <a14:useLocalDpi xmlns:a14="http://schemas.microsoft.com/office/drawing/2010/main" val="0"/>
              </a:ext>
            </a:extLst>
          </a:blip>
          <a:stretch>
            <a:fillRect/>
          </a:stretch>
        </p:blipFill>
        <p:spPr>
          <a:xfrm>
            <a:off x="2849583" y="533008"/>
            <a:ext cx="6515692" cy="3703801"/>
          </a:xfrm>
          <a:prstGeom prst="rect">
            <a:avLst/>
          </a:prstGeom>
          <a:ln>
            <a:noFill/>
          </a:ln>
          <a:effectLst>
            <a:outerShdw blurRad="292100" dist="139700" dir="2700000" algn="tl" rotWithShape="0">
              <a:srgbClr val="333333">
                <a:alpha val="65000"/>
              </a:srgbClr>
            </a:outerShdw>
          </a:effectLst>
        </p:spPr>
      </p:pic>
      <p:sp>
        <p:nvSpPr>
          <p:cNvPr id="10" name="Title 9"/>
          <p:cNvSpPr>
            <a:spLocks noGrp="1"/>
          </p:cNvSpPr>
          <p:nvPr>
            <p:ph type="title"/>
          </p:nvPr>
        </p:nvSpPr>
        <p:spPr>
          <a:xfrm>
            <a:off x="45719" y="6012240"/>
            <a:ext cx="10515600" cy="784823"/>
          </a:xfrm>
        </p:spPr>
        <p:txBody>
          <a:bodyPr>
            <a:normAutofit/>
          </a:bodyPr>
          <a:lstStyle/>
          <a:p>
            <a:r>
              <a:rPr lang="en-US" sz="1800" b="1" dirty="0" smtClean="0">
                <a:solidFill>
                  <a:schemeClr val="accent3"/>
                </a:solidFill>
                <a:latin typeface="+mn-lt"/>
              </a:rPr>
              <a:t>Dataset source: </a:t>
            </a:r>
            <a:r>
              <a:rPr lang="en-US" sz="1800" b="1" dirty="0" smtClean="0">
                <a:solidFill>
                  <a:schemeClr val="accent3"/>
                </a:solidFill>
                <a:latin typeface="+mn-lt"/>
                <a:hlinkClick r:id="rId4"/>
              </a:rPr>
              <a:t>https://www.kaggle.com/Spotify-2023</a:t>
            </a:r>
            <a:r>
              <a:rPr lang="en-US" sz="1800" b="1" dirty="0" smtClean="0">
                <a:solidFill>
                  <a:schemeClr val="accent3"/>
                </a:solidFill>
                <a:latin typeface="+mn-lt"/>
              </a:rPr>
              <a:t> </a:t>
            </a:r>
            <a:r>
              <a:rPr lang="en-US" sz="1800" b="1" dirty="0" smtClean="0">
                <a:solidFill>
                  <a:schemeClr val="tx1">
                    <a:lumMod val="65000"/>
                    <a:lumOff val="35000"/>
                  </a:schemeClr>
                </a:solidFill>
                <a:latin typeface="+mn-lt"/>
              </a:rPr>
              <a:t>updated: 17/12/2023</a:t>
            </a:r>
            <a:endParaRPr lang="en-US" sz="1800" b="1" dirty="0">
              <a:solidFill>
                <a:schemeClr val="tx1">
                  <a:lumMod val="65000"/>
                  <a:lumOff val="35000"/>
                </a:schemeClr>
              </a:solidFill>
              <a:latin typeface="+mn-lt"/>
            </a:endParaRPr>
          </a:p>
        </p:txBody>
      </p:sp>
      <p:sp>
        <p:nvSpPr>
          <p:cNvPr id="3" name="Rounded Rectangle 2"/>
          <p:cNvSpPr/>
          <p:nvPr/>
        </p:nvSpPr>
        <p:spPr>
          <a:xfrm>
            <a:off x="304800" y="304800"/>
            <a:ext cx="11713029" cy="5863771"/>
          </a:xfrm>
          <a:prstGeom prst="roundRect">
            <a:avLst>
              <a:gd name="adj" fmla="val 4538"/>
            </a:avLst>
          </a:prstGeom>
          <a:gradFill>
            <a:gsLst>
              <a:gs pos="0">
                <a:srgbClr val="00B050">
                  <a:alpha val="25000"/>
                  <a:lumMod val="17000"/>
                </a:srgbClr>
              </a:gs>
              <a:gs pos="53000">
                <a:schemeClr val="tx1"/>
              </a:gs>
              <a:gs pos="92857">
                <a:schemeClr val="tx1"/>
              </a:gs>
              <a:gs pos="86000">
                <a:srgbClr val="0C6434">
                  <a:lumMod val="70000"/>
                </a:srgbClr>
              </a:gs>
              <a:gs pos="0">
                <a:schemeClr val="bg2">
                  <a:lumMod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solidFill>
                  <a:schemeClr val="accent6">
                    <a:lumMod val="40000"/>
                    <a:lumOff val="60000"/>
                  </a:schemeClr>
                </a:solidFill>
                <a:effectLst>
                  <a:outerShdw blurRad="38100" dist="38100" dir="2700000" algn="tl">
                    <a:srgbClr val="000000">
                      <a:alpha val="43137"/>
                    </a:srgbClr>
                  </a:outerShdw>
                </a:effectLst>
                <a:latin typeface="Mongolian Baiti" panose="03000500000000000000" pitchFamily="66" charset="0"/>
                <a:ea typeface="Microsoft YaHei UI" panose="020B0503020204020204" pitchFamily="34" charset="-122"/>
                <a:cs typeface="Mongolian Baiti" panose="03000500000000000000" pitchFamily="66" charset="0"/>
              </a:rPr>
              <a:t>INTRODUCTION</a:t>
            </a:r>
          </a:p>
          <a:p>
            <a:pPr algn="ctr"/>
            <a:endParaRPr lang="en-US" sz="2800" b="1" dirty="0" smtClean="0">
              <a:solidFill>
                <a:schemeClr val="accent6">
                  <a:lumMod val="40000"/>
                  <a:lumOff val="60000"/>
                </a:schemeClr>
              </a:solidFill>
              <a:effectLst>
                <a:outerShdw blurRad="38100" dist="38100" dir="2700000" algn="tl">
                  <a:srgbClr val="000000">
                    <a:alpha val="43137"/>
                  </a:srgbClr>
                </a:outerShdw>
              </a:effectLst>
              <a:latin typeface="Microsoft YaHei UI" panose="020B0503020204020204" pitchFamily="34" charset="-122"/>
              <a:ea typeface="Microsoft YaHei UI" panose="020B0503020204020204" pitchFamily="34" charset="-122"/>
            </a:endParaRPr>
          </a:p>
          <a:p>
            <a:pPr algn="ctr"/>
            <a:r>
              <a:rPr lang="en-US" sz="2400" dirty="0" smtClean="0">
                <a:latin typeface="Mongolian Baiti" panose="03000500000000000000" pitchFamily="66" charset="0"/>
                <a:ea typeface="Microsoft YaHei UI" panose="020B0503020204020204" pitchFamily="34" charset="-122"/>
                <a:cs typeface="Mongolian Baiti" panose="03000500000000000000" pitchFamily="66" charset="0"/>
              </a:rPr>
              <a:t>I am </a:t>
            </a:r>
            <a:r>
              <a:rPr lang="en-US" sz="2400" dirty="0">
                <a:latin typeface="Mongolian Baiti" panose="03000500000000000000" pitchFamily="66" charset="0"/>
                <a:ea typeface="Microsoft YaHei UI" panose="020B0503020204020204" pitchFamily="34" charset="-122"/>
                <a:cs typeface="Mongolian Baiti" panose="03000500000000000000" pitchFamily="66" charset="0"/>
              </a:rPr>
              <a:t>excited to take you on a journey </a:t>
            </a:r>
            <a:r>
              <a:rPr lang="en-US" sz="2400" dirty="0" smtClean="0">
                <a:latin typeface="Mongolian Baiti" panose="03000500000000000000" pitchFamily="66" charset="0"/>
                <a:ea typeface="Microsoft YaHei UI" panose="020B0503020204020204" pitchFamily="34" charset="-122"/>
                <a:cs typeface="Mongolian Baiti" panose="03000500000000000000" pitchFamily="66" charset="0"/>
              </a:rPr>
              <a:t>today into the </a:t>
            </a:r>
            <a:r>
              <a:rPr lang="en-US" sz="2400" dirty="0">
                <a:latin typeface="Mongolian Baiti" panose="03000500000000000000" pitchFamily="66" charset="0"/>
                <a:ea typeface="Microsoft YaHei UI" panose="020B0503020204020204" pitchFamily="34" charset="-122"/>
                <a:cs typeface="Mongolian Baiti" panose="03000500000000000000" pitchFamily="66" charset="0"/>
              </a:rPr>
              <a:t>world of Spotify, a music streaming service that has revolutionized the way we experience and enjoy music. Spotify, founded in 2006, has become a household name, connecting millions of users around the globe to a vast and diverse library of music. From personalized playlists to artist discovery, Spotify has reshaped the music landscape, making it an integral part of our daily lives. Join me as we explore the features, impact, and the magic behind this music streaming giant</a:t>
            </a:r>
            <a:r>
              <a:rPr lang="en-US" sz="2400" dirty="0" smtClean="0">
                <a:latin typeface="Mongolian Baiti" panose="03000500000000000000" pitchFamily="66" charset="0"/>
                <a:ea typeface="Microsoft YaHei UI" panose="020B0503020204020204" pitchFamily="34" charset="-122"/>
                <a:cs typeface="Mongolian Baiti" panose="03000500000000000000" pitchFamily="66" charset="0"/>
              </a:rPr>
              <a:t>.“</a:t>
            </a:r>
          </a:p>
          <a:p>
            <a:pPr algn="ctr"/>
            <a:endParaRPr lang="en-US" sz="2400" dirty="0">
              <a:latin typeface="Mongolian Baiti" panose="03000500000000000000" pitchFamily="66" charset="0"/>
              <a:ea typeface="Microsoft YaHei UI" panose="020B0503020204020204" pitchFamily="34" charset="-122"/>
              <a:cs typeface="Mongolian Baiti" panose="03000500000000000000" pitchFamily="66" charset="0"/>
            </a:endParaRPr>
          </a:p>
          <a:p>
            <a:pPr algn="ctr"/>
            <a:r>
              <a:rPr lang="en-US" sz="2400" dirty="0">
                <a:latin typeface="Mongolian Baiti" panose="03000500000000000000" pitchFamily="66" charset="0"/>
                <a:ea typeface="Microsoft YaHei UI" panose="020B0503020204020204" pitchFamily="34" charset="-122"/>
                <a:cs typeface="Mongolian Baiti" panose="03000500000000000000" pitchFamily="66" charset="0"/>
              </a:rPr>
              <a:t>From the rise of streaming platforms to the decline of physical sales, the music industry has undergone seismic shifts. Your task is to untangle the web of influences that have shaped the songs we've been grooving to over these years.</a:t>
            </a:r>
          </a:p>
          <a:p>
            <a:pPr algn="just"/>
            <a:endParaRPr lang="en-US" sz="2400" dirty="0">
              <a:latin typeface="Mongolian Baiti" panose="03000500000000000000" pitchFamily="66" charset="0"/>
              <a:ea typeface="Microsoft YaHei UI" panose="020B0503020204020204" pitchFamily="34" charset="-122"/>
              <a:cs typeface="Mongolian Baiti" panose="03000500000000000000" pitchFamily="66" charset="0"/>
            </a:endParaRPr>
          </a:p>
          <a:p>
            <a:pPr algn="ctr"/>
            <a:endParaRPr lang="en-US" sz="2800" dirty="0">
              <a:solidFill>
                <a:schemeClr val="accent6">
                  <a:lumMod val="40000"/>
                  <a:lumOff val="60000"/>
                </a:schemeClr>
              </a:solidFill>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81888289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rgbClr val="00B050">
                <a:lumMod val="73000"/>
              </a:srgbClr>
            </a:gs>
            <a:gs pos="71000">
              <a:schemeClr val="tx1"/>
            </a:gs>
            <a:gs pos="92857">
              <a:schemeClr val="tx1"/>
            </a:gs>
            <a:gs pos="86000">
              <a:srgbClr val="0C6434">
                <a:lumMod val="70000"/>
              </a:srgbClr>
            </a:gs>
            <a:gs pos="63000">
              <a:schemeClr val="bg2">
                <a:lumMod val="0"/>
              </a:schemeClr>
            </a:gs>
          </a:gsLst>
          <a:lin ang="5400000" scaled="1"/>
        </a:gradFill>
        <a:effectLst/>
      </p:bgPr>
    </p:bg>
    <p:spTree>
      <p:nvGrpSpPr>
        <p:cNvPr id="1" name=""/>
        <p:cNvGrpSpPr/>
        <p:nvPr/>
      </p:nvGrpSpPr>
      <p:grpSpPr>
        <a:xfrm>
          <a:off x="0" y="0"/>
          <a:ext cx="0" cy="0"/>
          <a:chOff x="0" y="0"/>
          <a:chExt cx="0" cy="0"/>
        </a:xfrm>
      </p:grpSpPr>
      <p:sp>
        <p:nvSpPr>
          <p:cNvPr id="12" name="Rectangle 11"/>
          <p:cNvSpPr/>
          <p:nvPr/>
        </p:nvSpPr>
        <p:spPr>
          <a:xfrm>
            <a:off x="-22861" y="0"/>
            <a:ext cx="12260580" cy="542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flipH="1">
            <a:off x="-22861" y="0"/>
            <a:ext cx="4571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flipH="1">
            <a:off x="12169141" y="0"/>
            <a:ext cx="68578" cy="679706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p:cNvPicPr>
            <a:picLocks noChangeAspect="1"/>
          </p:cNvPicPr>
          <p:nvPr/>
        </p:nvPicPr>
        <p:blipFill>
          <a:blip r:embed="rId2" cstate="print">
            <a:extLst>
              <a:ext uri="{BEBA8EAE-BF5A-486C-A8C5-ECC9F3942E4B}">
                <a14:imgProps xmlns:a14="http://schemas.microsoft.com/office/drawing/2010/main">
                  <a14:imgLayer r:embed="rId3">
                    <a14:imgEffect>
                      <a14:sharpenSoften amount="60000"/>
                    </a14:imgEffect>
                    <a14:imgEffect>
                      <a14:brightnessContrast bright="-92000"/>
                    </a14:imgEffect>
                  </a14:imgLayer>
                </a14:imgProps>
              </a:ext>
              <a:ext uri="{28A0092B-C50C-407E-A947-70E740481C1C}">
                <a14:useLocalDpi xmlns:a14="http://schemas.microsoft.com/office/drawing/2010/main" val="0"/>
              </a:ext>
            </a:extLst>
          </a:blip>
          <a:stretch>
            <a:fillRect/>
          </a:stretch>
        </p:blipFill>
        <p:spPr>
          <a:xfrm>
            <a:off x="2849583" y="533008"/>
            <a:ext cx="6515692" cy="3703801"/>
          </a:xfrm>
          <a:prstGeom prst="rect">
            <a:avLst/>
          </a:prstGeom>
          <a:ln>
            <a:noFill/>
          </a:ln>
          <a:effectLst>
            <a:outerShdw blurRad="292100" dist="139700" dir="2700000" algn="tl" rotWithShape="0">
              <a:srgbClr val="333333">
                <a:alpha val="65000"/>
              </a:srgbClr>
            </a:outerShdw>
          </a:effectLst>
        </p:spPr>
      </p:pic>
      <p:sp>
        <p:nvSpPr>
          <p:cNvPr id="10" name="Title 9"/>
          <p:cNvSpPr>
            <a:spLocks noGrp="1"/>
          </p:cNvSpPr>
          <p:nvPr>
            <p:ph type="title"/>
          </p:nvPr>
        </p:nvSpPr>
        <p:spPr>
          <a:xfrm>
            <a:off x="45719" y="6012240"/>
            <a:ext cx="10515600" cy="784823"/>
          </a:xfrm>
        </p:spPr>
        <p:txBody>
          <a:bodyPr>
            <a:normAutofit/>
          </a:bodyPr>
          <a:lstStyle/>
          <a:p>
            <a:r>
              <a:rPr lang="en-US" sz="1800" b="1" dirty="0" smtClean="0">
                <a:solidFill>
                  <a:schemeClr val="accent3"/>
                </a:solidFill>
                <a:latin typeface="+mn-lt"/>
              </a:rPr>
              <a:t>Dataset source: </a:t>
            </a:r>
            <a:r>
              <a:rPr lang="en-US" sz="1800" b="1" dirty="0" smtClean="0">
                <a:solidFill>
                  <a:schemeClr val="accent3"/>
                </a:solidFill>
                <a:latin typeface="+mn-lt"/>
                <a:hlinkClick r:id="rId4"/>
              </a:rPr>
              <a:t>https://www.kaggle.com/Spotify-2023</a:t>
            </a:r>
            <a:r>
              <a:rPr lang="en-US" sz="1800" b="1" dirty="0" smtClean="0">
                <a:solidFill>
                  <a:schemeClr val="accent3"/>
                </a:solidFill>
                <a:latin typeface="+mn-lt"/>
              </a:rPr>
              <a:t> </a:t>
            </a:r>
            <a:r>
              <a:rPr lang="en-US" sz="1800" b="1" dirty="0" smtClean="0">
                <a:solidFill>
                  <a:schemeClr val="tx1">
                    <a:lumMod val="65000"/>
                    <a:lumOff val="35000"/>
                  </a:schemeClr>
                </a:solidFill>
                <a:latin typeface="+mn-lt"/>
              </a:rPr>
              <a:t>updated: 17/12/2023</a:t>
            </a:r>
            <a:endParaRPr lang="en-US" sz="1800" b="1" dirty="0">
              <a:solidFill>
                <a:schemeClr val="tx1">
                  <a:lumMod val="65000"/>
                  <a:lumOff val="35000"/>
                </a:schemeClr>
              </a:solidFill>
              <a:latin typeface="+mn-lt"/>
            </a:endParaRPr>
          </a:p>
        </p:txBody>
      </p:sp>
      <p:sp>
        <p:nvSpPr>
          <p:cNvPr id="3" name="Rounded Rectangle 2"/>
          <p:cNvSpPr/>
          <p:nvPr/>
        </p:nvSpPr>
        <p:spPr>
          <a:xfrm>
            <a:off x="304800" y="304800"/>
            <a:ext cx="11713029" cy="5863771"/>
          </a:xfrm>
          <a:prstGeom prst="roundRect">
            <a:avLst>
              <a:gd name="adj" fmla="val 4538"/>
            </a:avLst>
          </a:prstGeom>
          <a:gradFill>
            <a:gsLst>
              <a:gs pos="0">
                <a:srgbClr val="00B050">
                  <a:alpha val="25000"/>
                  <a:lumMod val="17000"/>
                </a:srgbClr>
              </a:gs>
              <a:gs pos="71000">
                <a:schemeClr val="tx1"/>
              </a:gs>
              <a:gs pos="92857">
                <a:schemeClr val="tx1"/>
              </a:gs>
              <a:gs pos="86000">
                <a:srgbClr val="0C6434">
                  <a:lumMod val="70000"/>
                </a:srgbClr>
              </a:gs>
              <a:gs pos="0">
                <a:schemeClr val="bg2">
                  <a:lumMod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latin typeface="Mongolian Baiti" panose="03000500000000000000" pitchFamily="66" charset="0"/>
                <a:ea typeface="Microsoft YaHei UI" panose="020B0503020204020204" pitchFamily="34" charset="-122"/>
                <a:cs typeface="Mongolian Baiti" panose="03000500000000000000" pitchFamily="66" charset="0"/>
              </a:rPr>
              <a:t>ABOUT </a:t>
            </a:r>
            <a:r>
              <a:rPr lang="en-US" sz="3200" b="1" dirty="0" smtClean="0">
                <a:latin typeface="Mongolian Baiti" panose="03000500000000000000" pitchFamily="66" charset="0"/>
                <a:ea typeface="Microsoft YaHei UI" panose="020B0503020204020204" pitchFamily="34" charset="-122"/>
                <a:cs typeface="Mongolian Baiti" panose="03000500000000000000" pitchFamily="66" charset="0"/>
              </a:rPr>
              <a:t> THE  DATASET</a:t>
            </a:r>
          </a:p>
          <a:p>
            <a:pPr algn="ctr"/>
            <a:endParaRPr lang="en-US" sz="2800" dirty="0">
              <a:latin typeface="Mongolian Baiti" panose="03000500000000000000" pitchFamily="66" charset="0"/>
              <a:ea typeface="Microsoft YaHei UI" panose="020B0503020204020204" pitchFamily="34" charset="-122"/>
              <a:cs typeface="Mongolian Baiti" panose="03000500000000000000" pitchFamily="66" charset="0"/>
            </a:endParaRPr>
          </a:p>
          <a:p>
            <a:pPr algn="ctr"/>
            <a:r>
              <a:rPr lang="en-US" sz="2400" dirty="0">
                <a:latin typeface="Mongolian Baiti" panose="03000500000000000000" pitchFamily="66" charset="0"/>
                <a:ea typeface="Microsoft YaHei UI" panose="020B0503020204020204" pitchFamily="34" charset="-122"/>
                <a:cs typeface="Mongolian Baiti" panose="03000500000000000000" pitchFamily="66" charset="0"/>
              </a:rPr>
              <a:t>Our dataset contains musical information, song features, artist details, when and how every song by an artist performs in a certain year. It's a snapshot of the diverse world of music streaming, offering us a backstage pass to understand trends, discover patterns, and decode what makes our favorite tunes tick. Join me as we navigate the beats and bytes of the Spotify dataset, unlocking insights that harmonize with the pulse of millions of music lovers worldwide."</a:t>
            </a:r>
            <a:endParaRPr lang="en-US" sz="2400" dirty="0">
              <a:effectLst/>
              <a:latin typeface="Mongolian Baiti" panose="03000500000000000000" pitchFamily="66" charset="0"/>
              <a:ea typeface="Microsoft YaHei UI" panose="020B0503020204020204" pitchFamily="34" charset="-122"/>
              <a:cs typeface="Mongolian Baiti" panose="03000500000000000000" pitchFamily="66" charset="0"/>
            </a:endParaRPr>
          </a:p>
        </p:txBody>
      </p:sp>
    </p:spTree>
    <p:extLst>
      <p:ext uri="{BB962C8B-B14F-4D97-AF65-F5344CB8AC3E}">
        <p14:creationId xmlns:p14="http://schemas.microsoft.com/office/powerpoint/2010/main" val="221339711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rgbClr val="00B050">
                <a:lumMod val="73000"/>
              </a:srgbClr>
            </a:gs>
            <a:gs pos="71000">
              <a:schemeClr val="tx1"/>
            </a:gs>
            <a:gs pos="92857">
              <a:schemeClr val="tx1"/>
            </a:gs>
            <a:gs pos="86000">
              <a:srgbClr val="0C6434">
                <a:lumMod val="70000"/>
              </a:srgbClr>
            </a:gs>
            <a:gs pos="63000">
              <a:schemeClr val="bg2">
                <a:lumMod val="0"/>
              </a:schemeClr>
            </a:gs>
          </a:gsLst>
          <a:lin ang="5400000" scaled="1"/>
        </a:gradFill>
        <a:effectLst/>
      </p:bgPr>
    </p:bg>
    <p:spTree>
      <p:nvGrpSpPr>
        <p:cNvPr id="1" name=""/>
        <p:cNvGrpSpPr/>
        <p:nvPr/>
      </p:nvGrpSpPr>
      <p:grpSpPr>
        <a:xfrm>
          <a:off x="0" y="0"/>
          <a:ext cx="0" cy="0"/>
          <a:chOff x="0" y="0"/>
          <a:chExt cx="0" cy="0"/>
        </a:xfrm>
      </p:grpSpPr>
      <p:sp>
        <p:nvSpPr>
          <p:cNvPr id="12" name="Rectangle 11"/>
          <p:cNvSpPr/>
          <p:nvPr/>
        </p:nvSpPr>
        <p:spPr>
          <a:xfrm>
            <a:off x="-22861" y="14514"/>
            <a:ext cx="12260580" cy="542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flipH="1">
            <a:off x="-22861" y="0"/>
            <a:ext cx="4571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flipH="1">
            <a:off x="12169141" y="0"/>
            <a:ext cx="68578" cy="679706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p:cNvPicPr>
            <a:picLocks noChangeAspect="1"/>
          </p:cNvPicPr>
          <p:nvPr/>
        </p:nvPicPr>
        <p:blipFill>
          <a:blip r:embed="rId2" cstate="print">
            <a:extLst>
              <a:ext uri="{BEBA8EAE-BF5A-486C-A8C5-ECC9F3942E4B}">
                <a14:imgProps xmlns:a14="http://schemas.microsoft.com/office/drawing/2010/main">
                  <a14:imgLayer r:embed="rId3">
                    <a14:imgEffect>
                      <a14:sharpenSoften amount="60000"/>
                    </a14:imgEffect>
                    <a14:imgEffect>
                      <a14:brightnessContrast bright="-92000"/>
                    </a14:imgEffect>
                  </a14:imgLayer>
                </a14:imgProps>
              </a:ext>
              <a:ext uri="{28A0092B-C50C-407E-A947-70E740481C1C}">
                <a14:useLocalDpi xmlns:a14="http://schemas.microsoft.com/office/drawing/2010/main" val="0"/>
              </a:ext>
            </a:extLst>
          </a:blip>
          <a:stretch>
            <a:fillRect/>
          </a:stretch>
        </p:blipFill>
        <p:spPr>
          <a:xfrm>
            <a:off x="2849583" y="533008"/>
            <a:ext cx="6515692" cy="3703801"/>
          </a:xfrm>
          <a:prstGeom prst="rect">
            <a:avLst/>
          </a:prstGeom>
          <a:ln>
            <a:noFill/>
          </a:ln>
          <a:effectLst>
            <a:outerShdw blurRad="292100" dist="139700" dir="2700000" algn="tl" rotWithShape="0">
              <a:srgbClr val="333333">
                <a:alpha val="65000"/>
              </a:srgbClr>
            </a:outerShdw>
          </a:effectLst>
        </p:spPr>
      </p:pic>
      <p:sp>
        <p:nvSpPr>
          <p:cNvPr id="10" name="Title 9"/>
          <p:cNvSpPr>
            <a:spLocks noGrp="1"/>
          </p:cNvSpPr>
          <p:nvPr>
            <p:ph type="title"/>
          </p:nvPr>
        </p:nvSpPr>
        <p:spPr>
          <a:xfrm>
            <a:off x="45719" y="6012240"/>
            <a:ext cx="10515600" cy="784823"/>
          </a:xfrm>
        </p:spPr>
        <p:txBody>
          <a:bodyPr>
            <a:normAutofit/>
          </a:bodyPr>
          <a:lstStyle/>
          <a:p>
            <a:r>
              <a:rPr lang="en-US" sz="1800" b="1" dirty="0" smtClean="0">
                <a:solidFill>
                  <a:schemeClr val="accent3"/>
                </a:solidFill>
                <a:latin typeface="+mn-lt"/>
              </a:rPr>
              <a:t>Dataset source: </a:t>
            </a:r>
            <a:r>
              <a:rPr lang="en-US" sz="1800" b="1" dirty="0" smtClean="0">
                <a:solidFill>
                  <a:schemeClr val="accent3"/>
                </a:solidFill>
                <a:latin typeface="+mn-lt"/>
                <a:hlinkClick r:id="rId4"/>
              </a:rPr>
              <a:t>https://www.kaggle.com/Spotify-2023</a:t>
            </a:r>
            <a:r>
              <a:rPr lang="en-US" sz="1800" b="1" dirty="0" smtClean="0">
                <a:solidFill>
                  <a:schemeClr val="accent3"/>
                </a:solidFill>
                <a:latin typeface="+mn-lt"/>
              </a:rPr>
              <a:t> </a:t>
            </a:r>
            <a:r>
              <a:rPr lang="en-US" sz="1800" b="1" dirty="0" smtClean="0">
                <a:solidFill>
                  <a:schemeClr val="tx1">
                    <a:lumMod val="65000"/>
                    <a:lumOff val="35000"/>
                  </a:schemeClr>
                </a:solidFill>
                <a:latin typeface="+mn-lt"/>
              </a:rPr>
              <a:t>updated: 17/12/2023</a:t>
            </a:r>
            <a:endParaRPr lang="en-US" sz="1800" b="1" dirty="0">
              <a:solidFill>
                <a:schemeClr val="tx1">
                  <a:lumMod val="65000"/>
                  <a:lumOff val="35000"/>
                </a:schemeClr>
              </a:solidFill>
              <a:latin typeface="+mn-lt"/>
            </a:endParaRPr>
          </a:p>
        </p:txBody>
      </p:sp>
      <p:sp>
        <p:nvSpPr>
          <p:cNvPr id="3" name="Rounded Rectangle 2"/>
          <p:cNvSpPr/>
          <p:nvPr/>
        </p:nvSpPr>
        <p:spPr>
          <a:xfrm>
            <a:off x="225084" y="304800"/>
            <a:ext cx="11792746" cy="5863771"/>
          </a:xfrm>
          <a:prstGeom prst="roundRect">
            <a:avLst>
              <a:gd name="adj" fmla="val 4538"/>
            </a:avLst>
          </a:prstGeom>
          <a:gradFill>
            <a:gsLst>
              <a:gs pos="0">
                <a:srgbClr val="00B050">
                  <a:alpha val="25000"/>
                  <a:lumMod val="17000"/>
                </a:srgbClr>
              </a:gs>
              <a:gs pos="71000">
                <a:schemeClr val="tx1"/>
              </a:gs>
              <a:gs pos="92857">
                <a:schemeClr val="tx1"/>
              </a:gs>
              <a:gs pos="86000">
                <a:srgbClr val="0C6434">
                  <a:lumMod val="70000"/>
                </a:srgbClr>
              </a:gs>
              <a:gs pos="4000">
                <a:schemeClr val="bg2">
                  <a:lumMod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effectLst>
                  <a:outerShdw blurRad="38100" dist="38100" dir="2700000" algn="tl">
                    <a:srgbClr val="000000">
                      <a:alpha val="43137"/>
                    </a:srgbClr>
                  </a:outerShdw>
                </a:effectLst>
                <a:latin typeface="Mongolian Baiti" panose="03000500000000000000" pitchFamily="66" charset="0"/>
                <a:ea typeface="Microsoft YaHei UI" panose="020B0503020204020204" pitchFamily="34" charset="-122"/>
                <a:cs typeface="Mongolian Baiti" panose="03000500000000000000" pitchFamily="66" charset="0"/>
              </a:rPr>
              <a:t>PROBLEM STATEMENT</a:t>
            </a:r>
          </a:p>
          <a:p>
            <a:pPr algn="ctr"/>
            <a:endParaRPr lang="en-US" sz="2800" dirty="0" smtClean="0">
              <a:latin typeface="Mongolian Baiti" panose="03000500000000000000" pitchFamily="66" charset="0"/>
              <a:ea typeface="Microsoft YaHei UI" panose="020B0503020204020204" pitchFamily="34" charset="-122"/>
              <a:cs typeface="Mongolian Baiti" panose="03000500000000000000" pitchFamily="66" charset="0"/>
            </a:endParaRPr>
          </a:p>
          <a:p>
            <a:pPr algn="just"/>
            <a:r>
              <a:rPr lang="en-US" sz="2400" dirty="0" smtClean="0">
                <a:latin typeface="Mongolian Baiti" panose="03000500000000000000" pitchFamily="66" charset="0"/>
                <a:ea typeface="Microsoft YaHei UI" panose="020B0503020204020204" pitchFamily="34" charset="-122"/>
                <a:cs typeface="Mongolian Baiti" panose="03000500000000000000" pitchFamily="66" charset="0"/>
              </a:rPr>
              <a:t>Given </a:t>
            </a:r>
            <a:r>
              <a:rPr lang="en-US" sz="2400" dirty="0">
                <a:latin typeface="Mongolian Baiti" panose="03000500000000000000" pitchFamily="66" charset="0"/>
                <a:ea typeface="Microsoft YaHei UI" panose="020B0503020204020204" pitchFamily="34" charset="-122"/>
                <a:cs typeface="Mongolian Baiti" panose="03000500000000000000" pitchFamily="66" charset="0"/>
              </a:rPr>
              <a:t>the vast and intricate dataset encompassing Spotify's music library, user interactions, and artist performances over the past twelve years, we seek to extract meaningful insights and trends that shed light on the evolving landscape of music consumption and production. Our primary objectives include:</a:t>
            </a:r>
          </a:p>
          <a:p>
            <a:pPr marL="285750" indent="-285750" algn="just">
              <a:buFont typeface="Wingdings" panose="05000000000000000000" pitchFamily="2" charset="2"/>
              <a:buChar char="Ø"/>
            </a:pPr>
            <a:r>
              <a:rPr lang="en-IN" sz="2400" dirty="0">
                <a:latin typeface="Mongolian Baiti" panose="03000500000000000000" pitchFamily="66" charset="0"/>
                <a:ea typeface="Microsoft YaHei UI" panose="020B0503020204020204" pitchFamily="34" charset="-122"/>
                <a:cs typeface="Mongolian Baiti" panose="03000500000000000000" pitchFamily="66" charset="0"/>
              </a:rPr>
              <a:t>Top songs based on </a:t>
            </a:r>
            <a:r>
              <a:rPr lang="en-IN" sz="2400" dirty="0" smtClean="0">
                <a:latin typeface="Mongolian Baiti" panose="03000500000000000000" pitchFamily="66" charset="0"/>
                <a:ea typeface="Microsoft YaHei UI" panose="020B0503020204020204" pitchFamily="34" charset="-122"/>
                <a:cs typeface="Mongolian Baiti" panose="03000500000000000000" pitchFamily="66" charset="0"/>
              </a:rPr>
              <a:t>popularity</a:t>
            </a:r>
          </a:p>
          <a:p>
            <a:pPr marL="285750" indent="-285750" algn="just">
              <a:buFont typeface="Wingdings" panose="05000000000000000000" pitchFamily="2" charset="2"/>
              <a:buChar char="Ø"/>
            </a:pPr>
            <a:r>
              <a:rPr lang="en-IN" sz="2400" dirty="0" smtClean="0">
                <a:latin typeface="Mongolian Baiti" panose="03000500000000000000" pitchFamily="66" charset="0"/>
                <a:ea typeface="Microsoft YaHei UI" panose="020B0503020204020204" pitchFamily="34" charset="-122"/>
                <a:cs typeface="Mongolian Baiti" panose="03000500000000000000" pitchFamily="66" charset="0"/>
              </a:rPr>
              <a:t>Most streamed song and Artist.</a:t>
            </a:r>
            <a:endParaRPr lang="en-IN" sz="2400" dirty="0">
              <a:latin typeface="Mongolian Baiti" panose="03000500000000000000" pitchFamily="66" charset="0"/>
              <a:ea typeface="Microsoft YaHei UI" panose="020B0503020204020204" pitchFamily="34" charset="-122"/>
              <a:cs typeface="Mongolian Baiti" panose="03000500000000000000" pitchFamily="66" charset="0"/>
            </a:endParaRPr>
          </a:p>
          <a:p>
            <a:pPr marL="285750" indent="-285750" algn="just">
              <a:buFont typeface="Wingdings" panose="05000000000000000000" pitchFamily="2" charset="2"/>
              <a:buChar char="Ø"/>
            </a:pPr>
            <a:r>
              <a:rPr lang="en-IN" sz="2400" dirty="0">
                <a:latin typeface="Mongolian Baiti" panose="03000500000000000000" pitchFamily="66" charset="0"/>
                <a:ea typeface="Microsoft YaHei UI" panose="020B0503020204020204" pitchFamily="34" charset="-122"/>
                <a:cs typeface="Mongolian Baiti" panose="03000500000000000000" pitchFamily="66" charset="0"/>
              </a:rPr>
              <a:t>Top songs for each year </a:t>
            </a:r>
            <a:r>
              <a:rPr lang="en-IN" sz="2400" dirty="0" smtClean="0">
                <a:latin typeface="Mongolian Baiti" panose="03000500000000000000" pitchFamily="66" charset="0"/>
                <a:ea typeface="Microsoft YaHei UI" panose="020B0503020204020204" pitchFamily="34" charset="-122"/>
                <a:cs typeface="Mongolian Baiti" panose="03000500000000000000" pitchFamily="66" charset="0"/>
              </a:rPr>
              <a:t>since Spotify started.</a:t>
            </a:r>
            <a:endParaRPr lang="en-IN" sz="2400" dirty="0">
              <a:latin typeface="Mongolian Baiti" panose="03000500000000000000" pitchFamily="66" charset="0"/>
              <a:ea typeface="Microsoft YaHei UI" panose="020B0503020204020204" pitchFamily="34" charset="-122"/>
              <a:cs typeface="Mongolian Baiti" panose="03000500000000000000" pitchFamily="66" charset="0"/>
            </a:endParaRPr>
          </a:p>
          <a:p>
            <a:pPr marL="285750" indent="-285750" algn="just">
              <a:buFont typeface="Wingdings" panose="05000000000000000000" pitchFamily="2" charset="2"/>
              <a:buChar char="Ø"/>
            </a:pPr>
            <a:r>
              <a:rPr lang="en-IN" sz="2400" dirty="0">
                <a:latin typeface="Mongolian Baiti" panose="03000500000000000000" pitchFamily="66" charset="0"/>
                <a:ea typeface="Microsoft YaHei UI" panose="020B0503020204020204" pitchFamily="34" charset="-122"/>
                <a:cs typeface="Mongolian Baiti" panose="03000500000000000000" pitchFamily="66" charset="0"/>
              </a:rPr>
              <a:t>Importance of Energy, Danceability, Loudness, Speechiness and Acousticness on Songs.</a:t>
            </a:r>
          </a:p>
          <a:p>
            <a:pPr algn="ctr"/>
            <a:endParaRPr lang="en-US" sz="2000"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05745791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rgbClr val="00B050"/>
            </a:gs>
            <a:gs pos="71000">
              <a:schemeClr val="tx1"/>
            </a:gs>
            <a:gs pos="92857">
              <a:schemeClr val="tx1"/>
            </a:gs>
            <a:gs pos="86000">
              <a:srgbClr val="0C6434">
                <a:lumMod val="70000"/>
              </a:srgbClr>
            </a:gs>
            <a:gs pos="23000">
              <a:schemeClr val="bg2">
                <a:lumMod val="0"/>
              </a:schemeClr>
            </a:gs>
          </a:gsLst>
          <a:lin ang="5400000" scaled="1"/>
        </a:gradFill>
        <a:effectLst/>
      </p:bgPr>
    </p:bg>
    <p:spTree>
      <p:nvGrpSpPr>
        <p:cNvPr id="1" name=""/>
        <p:cNvGrpSpPr/>
        <p:nvPr/>
      </p:nvGrpSpPr>
      <p:grpSpPr>
        <a:xfrm>
          <a:off x="0" y="0"/>
          <a:ext cx="0" cy="0"/>
          <a:chOff x="0" y="0"/>
          <a:chExt cx="0" cy="0"/>
        </a:xfrm>
      </p:grpSpPr>
      <p:sp>
        <p:nvSpPr>
          <p:cNvPr id="12" name="Rectangle 11"/>
          <p:cNvSpPr/>
          <p:nvPr/>
        </p:nvSpPr>
        <p:spPr>
          <a:xfrm>
            <a:off x="-22861" y="0"/>
            <a:ext cx="12260580" cy="542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flipH="1">
            <a:off x="-22861" y="0"/>
            <a:ext cx="4571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flipH="1">
            <a:off x="12169141" y="0"/>
            <a:ext cx="68578" cy="679706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p:cNvPicPr>
            <a:picLocks noChangeAspect="1"/>
          </p:cNvPicPr>
          <p:nvPr/>
        </p:nvPicPr>
        <p:blipFill>
          <a:blip r:embed="rId2" cstate="print">
            <a:extLst>
              <a:ext uri="{BEBA8EAE-BF5A-486C-A8C5-ECC9F3942E4B}">
                <a14:imgProps xmlns:a14="http://schemas.microsoft.com/office/drawing/2010/main">
                  <a14:imgLayer r:embed="rId3">
                    <a14:imgEffect>
                      <a14:sharpenSoften amount="60000"/>
                    </a14:imgEffect>
                    <a14:imgEffect>
                      <a14:brightnessContrast bright="-92000"/>
                    </a14:imgEffect>
                  </a14:imgLayer>
                </a14:imgProps>
              </a:ext>
              <a:ext uri="{28A0092B-C50C-407E-A947-70E740481C1C}">
                <a14:useLocalDpi xmlns:a14="http://schemas.microsoft.com/office/drawing/2010/main" val="0"/>
              </a:ext>
            </a:extLst>
          </a:blip>
          <a:stretch>
            <a:fillRect/>
          </a:stretch>
        </p:blipFill>
        <p:spPr>
          <a:xfrm>
            <a:off x="6107429" y="1360179"/>
            <a:ext cx="6515692" cy="3703801"/>
          </a:xfrm>
          <a:prstGeom prst="rect">
            <a:avLst/>
          </a:prstGeom>
          <a:ln>
            <a:noFill/>
          </a:ln>
          <a:effectLst>
            <a:outerShdw blurRad="292100" dist="139700" dir="2700000" algn="tl" rotWithShape="0">
              <a:srgbClr val="333333">
                <a:alpha val="65000"/>
              </a:srgbClr>
            </a:outerShdw>
          </a:effectLst>
        </p:spPr>
      </p:pic>
      <p:sp>
        <p:nvSpPr>
          <p:cNvPr id="10" name="Title 9"/>
          <p:cNvSpPr>
            <a:spLocks noGrp="1"/>
          </p:cNvSpPr>
          <p:nvPr>
            <p:ph type="title"/>
          </p:nvPr>
        </p:nvSpPr>
        <p:spPr>
          <a:xfrm>
            <a:off x="45719" y="6012240"/>
            <a:ext cx="10515600" cy="784823"/>
          </a:xfrm>
        </p:spPr>
        <p:txBody>
          <a:bodyPr>
            <a:normAutofit/>
          </a:bodyPr>
          <a:lstStyle/>
          <a:p>
            <a:r>
              <a:rPr lang="en-US" sz="1800" b="1" dirty="0" smtClean="0">
                <a:solidFill>
                  <a:schemeClr val="accent3"/>
                </a:solidFill>
                <a:latin typeface="+mn-lt"/>
              </a:rPr>
              <a:t>Dataset source: </a:t>
            </a:r>
            <a:r>
              <a:rPr lang="en-US" sz="1800" b="1" dirty="0" smtClean="0">
                <a:solidFill>
                  <a:schemeClr val="accent3"/>
                </a:solidFill>
                <a:latin typeface="+mn-lt"/>
                <a:hlinkClick r:id="rId4"/>
              </a:rPr>
              <a:t>https://www.kaggle.com/Spotify-2023</a:t>
            </a:r>
            <a:r>
              <a:rPr lang="en-US" sz="1800" b="1" dirty="0" smtClean="0">
                <a:solidFill>
                  <a:schemeClr val="accent3"/>
                </a:solidFill>
                <a:latin typeface="+mn-lt"/>
              </a:rPr>
              <a:t> </a:t>
            </a:r>
            <a:r>
              <a:rPr lang="en-US" sz="1800" b="1" dirty="0" smtClean="0">
                <a:solidFill>
                  <a:schemeClr val="tx1">
                    <a:lumMod val="65000"/>
                    <a:lumOff val="35000"/>
                  </a:schemeClr>
                </a:solidFill>
                <a:latin typeface="+mn-lt"/>
              </a:rPr>
              <a:t>updated: 17/12/2023</a:t>
            </a:r>
            <a:endParaRPr lang="en-US" sz="1800" b="1" dirty="0">
              <a:solidFill>
                <a:schemeClr val="tx1">
                  <a:lumMod val="65000"/>
                  <a:lumOff val="35000"/>
                </a:schemeClr>
              </a:solidFill>
              <a:latin typeface="+mn-lt"/>
            </a:endParaRPr>
          </a:p>
        </p:txBody>
      </p:sp>
      <p:sp>
        <p:nvSpPr>
          <p:cNvPr id="3" name="Rounded Rectangle 2"/>
          <p:cNvSpPr/>
          <p:nvPr/>
        </p:nvSpPr>
        <p:spPr>
          <a:xfrm>
            <a:off x="6531552" y="230326"/>
            <a:ext cx="5510392" cy="5963509"/>
          </a:xfrm>
          <a:prstGeom prst="roundRect">
            <a:avLst>
              <a:gd name="adj" fmla="val 4538"/>
            </a:avLst>
          </a:prstGeom>
          <a:gradFill>
            <a:gsLst>
              <a:gs pos="0">
                <a:srgbClr val="00B050">
                  <a:alpha val="25000"/>
                  <a:lumMod val="17000"/>
                </a:srgbClr>
              </a:gs>
              <a:gs pos="71000">
                <a:schemeClr val="tx1"/>
              </a:gs>
              <a:gs pos="92857">
                <a:schemeClr val="tx1"/>
              </a:gs>
              <a:gs pos="86000">
                <a:srgbClr val="0C6434">
                  <a:lumMod val="70000"/>
                </a:srgbClr>
              </a:gs>
              <a:gs pos="1000">
                <a:schemeClr val="bg2">
                  <a:lumMod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solidFill>
                  <a:schemeClr val="accent6">
                    <a:lumMod val="40000"/>
                    <a:lumOff val="60000"/>
                  </a:schemeClr>
                </a:solidFill>
                <a:effectLst>
                  <a:outerShdw blurRad="38100" dist="38100" dir="2700000" algn="tl">
                    <a:srgbClr val="000000">
                      <a:alpha val="43137"/>
                    </a:srgbClr>
                  </a:outerShdw>
                </a:effectLst>
                <a:latin typeface="Mongolian Baiti" panose="03000500000000000000" pitchFamily="66" charset="0"/>
                <a:cs typeface="Mongolian Baiti" panose="03000500000000000000" pitchFamily="66" charset="0"/>
              </a:rPr>
              <a:t>INSIGHTS</a:t>
            </a:r>
          </a:p>
          <a:p>
            <a:pPr algn="ctr"/>
            <a:endParaRPr lang="en-US" sz="2800" b="1" dirty="0">
              <a:solidFill>
                <a:schemeClr val="accent6">
                  <a:lumMod val="40000"/>
                  <a:lumOff val="60000"/>
                </a:schemeClr>
              </a:solidFill>
              <a:effectLst>
                <a:outerShdw blurRad="38100" dist="38100" dir="2700000" algn="tl">
                  <a:srgbClr val="000000">
                    <a:alpha val="43137"/>
                  </a:srgbClr>
                </a:outerShdw>
              </a:effectLst>
              <a:latin typeface="Newtimes"/>
            </a:endParaRPr>
          </a:p>
          <a:p>
            <a:pPr algn="ctr"/>
            <a:r>
              <a:rPr lang="en-US" sz="2400" dirty="0" smtClean="0">
                <a:solidFill>
                  <a:schemeClr val="accent6">
                    <a:lumMod val="40000"/>
                    <a:lumOff val="60000"/>
                  </a:schemeClr>
                </a:solidFill>
                <a:effectLst>
                  <a:outerShdw blurRad="38100" dist="38100" dir="2700000" algn="tl">
                    <a:srgbClr val="000000">
                      <a:alpha val="43137"/>
                    </a:srgbClr>
                  </a:outerShdw>
                </a:effectLst>
                <a:latin typeface="Mongolian Baiti" panose="03000500000000000000" pitchFamily="66" charset="0"/>
                <a:cs typeface="Mongolian Baiti" panose="03000500000000000000" pitchFamily="66" charset="0"/>
              </a:rPr>
              <a:t>From our clustered bar chart, we are able to see the performance of each track by all time total number of streams.  Blinding lights has the all-time highest streams follow by shape of you and others follow. Blinding lights has been on the top since 2020</a:t>
            </a:r>
            <a:r>
              <a:rPr lang="en-US" sz="2400" dirty="0">
                <a:solidFill>
                  <a:schemeClr val="accent6">
                    <a:lumMod val="40000"/>
                    <a:lumOff val="60000"/>
                  </a:schemeClr>
                </a:solidFill>
                <a:effectLst>
                  <a:outerShdw blurRad="38100" dist="38100" dir="2700000" algn="tl">
                    <a:srgbClr val="000000">
                      <a:alpha val="43137"/>
                    </a:srgbClr>
                  </a:outerShdw>
                </a:effectLst>
                <a:latin typeface="Mongolian Baiti" panose="03000500000000000000" pitchFamily="66" charset="0"/>
                <a:cs typeface="Mongolian Baiti" panose="03000500000000000000" pitchFamily="66" charset="0"/>
              </a:rPr>
              <a:t>.</a:t>
            </a:r>
            <a:endParaRPr lang="en-US" sz="2400" dirty="0" smtClean="0">
              <a:solidFill>
                <a:schemeClr val="accent6">
                  <a:lumMod val="40000"/>
                  <a:lumOff val="60000"/>
                </a:schemeClr>
              </a:solidFill>
              <a:effectLst>
                <a:outerShdw blurRad="38100" dist="38100" dir="2700000" algn="tl">
                  <a:srgbClr val="000000">
                    <a:alpha val="43137"/>
                  </a:srgbClr>
                </a:outerShdw>
              </a:effectLst>
              <a:latin typeface="Mongolian Baiti" panose="03000500000000000000" pitchFamily="66" charset="0"/>
              <a:cs typeface="Mongolian Baiti" panose="03000500000000000000" pitchFamily="66" charset="0"/>
            </a:endParaRPr>
          </a:p>
          <a:p>
            <a:pPr algn="ctr"/>
            <a:endParaRPr lang="en-US" sz="2400" dirty="0">
              <a:solidFill>
                <a:schemeClr val="accent6">
                  <a:lumMod val="40000"/>
                  <a:lumOff val="60000"/>
                </a:schemeClr>
              </a:solidFill>
              <a:effectLst>
                <a:outerShdw blurRad="38100" dist="38100" dir="2700000" algn="tl">
                  <a:srgbClr val="000000">
                    <a:alpha val="43137"/>
                  </a:srgbClr>
                </a:outerShdw>
              </a:effectLst>
              <a:latin typeface="Mongolian Baiti" panose="03000500000000000000" pitchFamily="66" charset="0"/>
              <a:cs typeface="Mongolian Baiti" panose="03000500000000000000" pitchFamily="66" charset="0"/>
            </a:endParaRPr>
          </a:p>
          <a:p>
            <a:pPr algn="ctr"/>
            <a:endParaRPr lang="en-US" sz="2400" dirty="0" smtClean="0">
              <a:solidFill>
                <a:schemeClr val="accent6">
                  <a:lumMod val="40000"/>
                  <a:lumOff val="60000"/>
                </a:schemeClr>
              </a:solidFill>
              <a:effectLst>
                <a:outerShdw blurRad="38100" dist="38100" dir="2700000" algn="tl">
                  <a:srgbClr val="000000">
                    <a:alpha val="43137"/>
                  </a:srgbClr>
                </a:outerShdw>
              </a:effectLst>
              <a:latin typeface="Mongolian Baiti" panose="03000500000000000000" pitchFamily="66" charset="0"/>
              <a:cs typeface="Mongolian Baiti" panose="03000500000000000000" pitchFamily="66" charset="0"/>
            </a:endParaRPr>
          </a:p>
          <a:p>
            <a:pPr algn="ctr"/>
            <a:endParaRPr lang="en-US" sz="2800" b="1" dirty="0" smtClean="0">
              <a:solidFill>
                <a:schemeClr val="accent6">
                  <a:lumMod val="40000"/>
                  <a:lumOff val="60000"/>
                </a:schemeClr>
              </a:solidFill>
              <a:effectLst>
                <a:outerShdw blurRad="38100" dist="38100" dir="2700000" algn="tl">
                  <a:srgbClr val="000000">
                    <a:alpha val="43137"/>
                  </a:srgbClr>
                </a:outerShdw>
              </a:effectLst>
              <a:latin typeface="Newtimes"/>
            </a:endParaRPr>
          </a:p>
          <a:p>
            <a:pPr algn="ctr"/>
            <a:endParaRPr lang="en-US" sz="2800" dirty="0">
              <a:solidFill>
                <a:schemeClr val="accent6">
                  <a:lumMod val="40000"/>
                  <a:lumOff val="60000"/>
                </a:schemeClr>
              </a:solidFill>
              <a:latin typeface="Newtimes"/>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0055" y="230326"/>
            <a:ext cx="6061455" cy="5963509"/>
          </a:xfrm>
          <a:prstGeom prst="rect">
            <a:avLst/>
          </a:prstGeom>
          <a:ln>
            <a:noFill/>
          </a:ln>
          <a:effectLst>
            <a:softEdge rad="112500"/>
          </a:effectLst>
        </p:spPr>
      </p:pic>
    </p:spTree>
    <p:extLst>
      <p:ext uri="{BB962C8B-B14F-4D97-AF65-F5344CB8AC3E}">
        <p14:creationId xmlns:p14="http://schemas.microsoft.com/office/powerpoint/2010/main" val="280212954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rgbClr val="00B050"/>
            </a:gs>
            <a:gs pos="71000">
              <a:schemeClr val="tx1"/>
            </a:gs>
            <a:gs pos="92857">
              <a:schemeClr val="tx1"/>
            </a:gs>
            <a:gs pos="86000">
              <a:srgbClr val="0C6434">
                <a:lumMod val="70000"/>
              </a:srgbClr>
            </a:gs>
            <a:gs pos="6000">
              <a:schemeClr val="bg2">
                <a:lumMod val="0"/>
              </a:schemeClr>
            </a:gs>
          </a:gsLst>
          <a:lin ang="5400000" scaled="1"/>
        </a:gradFill>
        <a:effectLst/>
      </p:bgPr>
    </p:bg>
    <p:spTree>
      <p:nvGrpSpPr>
        <p:cNvPr id="1" name=""/>
        <p:cNvGrpSpPr/>
        <p:nvPr/>
      </p:nvGrpSpPr>
      <p:grpSpPr>
        <a:xfrm>
          <a:off x="0" y="0"/>
          <a:ext cx="0" cy="0"/>
          <a:chOff x="0" y="0"/>
          <a:chExt cx="0" cy="0"/>
        </a:xfrm>
      </p:grpSpPr>
      <p:sp>
        <p:nvSpPr>
          <p:cNvPr id="12" name="Rectangle 11"/>
          <p:cNvSpPr/>
          <p:nvPr/>
        </p:nvSpPr>
        <p:spPr>
          <a:xfrm>
            <a:off x="0" y="-31206"/>
            <a:ext cx="12237719"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flipH="1">
            <a:off x="-22861" y="0"/>
            <a:ext cx="4571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flipH="1">
            <a:off x="12169141" y="0"/>
            <a:ext cx="68578" cy="679706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p:cNvPicPr>
            <a:picLocks noChangeAspect="1"/>
          </p:cNvPicPr>
          <p:nvPr/>
        </p:nvPicPr>
        <p:blipFill>
          <a:blip r:embed="rId2" cstate="print">
            <a:extLst>
              <a:ext uri="{BEBA8EAE-BF5A-486C-A8C5-ECC9F3942E4B}">
                <a14:imgProps xmlns:a14="http://schemas.microsoft.com/office/drawing/2010/main">
                  <a14:imgLayer r:embed="rId3">
                    <a14:imgEffect>
                      <a14:sharpenSoften amount="60000"/>
                    </a14:imgEffect>
                    <a14:imgEffect>
                      <a14:brightnessContrast bright="-92000"/>
                    </a14:imgEffect>
                  </a14:imgLayer>
                </a14:imgProps>
              </a:ext>
              <a:ext uri="{28A0092B-C50C-407E-A947-70E740481C1C}">
                <a14:useLocalDpi xmlns:a14="http://schemas.microsoft.com/office/drawing/2010/main" val="0"/>
              </a:ext>
            </a:extLst>
          </a:blip>
          <a:stretch>
            <a:fillRect/>
          </a:stretch>
        </p:blipFill>
        <p:spPr>
          <a:xfrm>
            <a:off x="6107429" y="1360179"/>
            <a:ext cx="6515692" cy="3703801"/>
          </a:xfrm>
          <a:prstGeom prst="rect">
            <a:avLst/>
          </a:prstGeom>
          <a:ln>
            <a:noFill/>
          </a:ln>
          <a:effectLst>
            <a:outerShdw blurRad="292100" dist="139700" dir="2700000" algn="tl" rotWithShape="0">
              <a:srgbClr val="333333">
                <a:alpha val="65000"/>
              </a:srgbClr>
            </a:outerShdw>
          </a:effectLst>
        </p:spPr>
      </p:pic>
      <p:sp>
        <p:nvSpPr>
          <p:cNvPr id="10" name="Title 9"/>
          <p:cNvSpPr>
            <a:spLocks noGrp="1"/>
          </p:cNvSpPr>
          <p:nvPr>
            <p:ph type="title"/>
          </p:nvPr>
        </p:nvSpPr>
        <p:spPr>
          <a:xfrm>
            <a:off x="45719" y="6012240"/>
            <a:ext cx="10515600" cy="784823"/>
          </a:xfrm>
        </p:spPr>
        <p:txBody>
          <a:bodyPr>
            <a:normAutofit/>
          </a:bodyPr>
          <a:lstStyle/>
          <a:p>
            <a:r>
              <a:rPr lang="en-US" sz="1800" b="1" dirty="0" smtClean="0">
                <a:solidFill>
                  <a:schemeClr val="accent3"/>
                </a:solidFill>
                <a:latin typeface="+mn-lt"/>
              </a:rPr>
              <a:t>Dataset source: </a:t>
            </a:r>
            <a:r>
              <a:rPr lang="en-US" sz="1800" b="1" dirty="0" smtClean="0">
                <a:solidFill>
                  <a:schemeClr val="accent3"/>
                </a:solidFill>
                <a:latin typeface="+mn-lt"/>
                <a:hlinkClick r:id="rId4"/>
              </a:rPr>
              <a:t>https://www.kaggle.com/Spotify-2023</a:t>
            </a:r>
            <a:r>
              <a:rPr lang="en-US" sz="1800" b="1" dirty="0" smtClean="0">
                <a:solidFill>
                  <a:schemeClr val="accent3"/>
                </a:solidFill>
                <a:latin typeface="+mn-lt"/>
              </a:rPr>
              <a:t> </a:t>
            </a:r>
            <a:r>
              <a:rPr lang="en-US" sz="1800" b="1" dirty="0" smtClean="0">
                <a:solidFill>
                  <a:schemeClr val="tx1">
                    <a:lumMod val="65000"/>
                    <a:lumOff val="35000"/>
                  </a:schemeClr>
                </a:solidFill>
                <a:latin typeface="+mn-lt"/>
              </a:rPr>
              <a:t>updated: 17/12/2023</a:t>
            </a:r>
            <a:endParaRPr lang="en-US" sz="1800" b="1" dirty="0">
              <a:solidFill>
                <a:schemeClr val="tx1">
                  <a:lumMod val="65000"/>
                  <a:lumOff val="35000"/>
                </a:schemeClr>
              </a:solidFill>
              <a:latin typeface="+mn-lt"/>
            </a:endParaRPr>
          </a:p>
        </p:txBody>
      </p:sp>
      <p:sp>
        <p:nvSpPr>
          <p:cNvPr id="3" name="Rounded Rectangle 2"/>
          <p:cNvSpPr/>
          <p:nvPr/>
        </p:nvSpPr>
        <p:spPr>
          <a:xfrm>
            <a:off x="6531552" y="230326"/>
            <a:ext cx="5510392" cy="5963509"/>
          </a:xfrm>
          <a:prstGeom prst="roundRect">
            <a:avLst>
              <a:gd name="adj" fmla="val 4538"/>
            </a:avLst>
          </a:prstGeom>
          <a:gradFill>
            <a:gsLst>
              <a:gs pos="0">
                <a:srgbClr val="00B050">
                  <a:alpha val="25000"/>
                  <a:lumMod val="17000"/>
                </a:srgbClr>
              </a:gs>
              <a:gs pos="0">
                <a:schemeClr val="tx1"/>
              </a:gs>
              <a:gs pos="92857">
                <a:schemeClr val="tx1"/>
              </a:gs>
              <a:gs pos="86000">
                <a:srgbClr val="0C6434">
                  <a:lumMod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solidFill>
                  <a:schemeClr val="accent6">
                    <a:lumMod val="40000"/>
                    <a:lumOff val="60000"/>
                  </a:schemeClr>
                </a:solidFill>
                <a:effectLst>
                  <a:outerShdw blurRad="38100" dist="38100" dir="2700000" algn="tl">
                    <a:srgbClr val="000000">
                      <a:alpha val="43137"/>
                    </a:srgbClr>
                  </a:outerShdw>
                </a:effectLst>
                <a:latin typeface="Mongolian Baiti" panose="03000500000000000000" pitchFamily="66" charset="0"/>
                <a:cs typeface="Mongolian Baiti" panose="03000500000000000000" pitchFamily="66" charset="0"/>
              </a:rPr>
              <a:t>INSIGHTS</a:t>
            </a:r>
          </a:p>
          <a:p>
            <a:pPr algn="ctr"/>
            <a:endParaRPr lang="en-US" sz="2800" b="1" dirty="0">
              <a:solidFill>
                <a:schemeClr val="accent6">
                  <a:lumMod val="40000"/>
                  <a:lumOff val="60000"/>
                </a:schemeClr>
              </a:solidFill>
              <a:effectLst>
                <a:outerShdw blurRad="38100" dist="38100" dir="2700000" algn="tl">
                  <a:srgbClr val="000000">
                    <a:alpha val="43137"/>
                  </a:srgbClr>
                </a:outerShdw>
              </a:effectLst>
              <a:latin typeface="Newtimes"/>
            </a:endParaRPr>
          </a:p>
          <a:p>
            <a:pPr algn="ctr"/>
            <a:r>
              <a:rPr lang="en-US" sz="2400" b="1" dirty="0" smtClean="0">
                <a:solidFill>
                  <a:schemeClr val="accent6">
                    <a:lumMod val="40000"/>
                    <a:lumOff val="60000"/>
                  </a:schemeClr>
                </a:solidFill>
                <a:effectLst>
                  <a:outerShdw blurRad="38100" dist="38100" dir="2700000" algn="tl">
                    <a:srgbClr val="000000">
                      <a:alpha val="43137"/>
                    </a:srgbClr>
                  </a:outerShdw>
                </a:effectLst>
                <a:latin typeface="Mongolian Baiti" panose="03000500000000000000" pitchFamily="66" charset="0"/>
                <a:cs typeface="Mongolian Baiti" panose="03000500000000000000" pitchFamily="66" charset="0"/>
              </a:rPr>
              <a:t>Our clustered bar charts shows us the top most streamed all-time artist on Spotify. The weekend with their song “Blinding lights” tops the chart. Taylor swift follows and Ed </a:t>
            </a:r>
            <a:r>
              <a:rPr lang="en-US" sz="2400" b="1" dirty="0" err="1" smtClean="0">
                <a:solidFill>
                  <a:schemeClr val="accent6">
                    <a:lumMod val="40000"/>
                    <a:lumOff val="60000"/>
                  </a:schemeClr>
                </a:solidFill>
                <a:effectLst>
                  <a:outerShdw blurRad="38100" dist="38100" dir="2700000" algn="tl">
                    <a:srgbClr val="000000">
                      <a:alpha val="43137"/>
                    </a:srgbClr>
                  </a:outerShdw>
                </a:effectLst>
                <a:latin typeface="Mongolian Baiti" panose="03000500000000000000" pitchFamily="66" charset="0"/>
                <a:cs typeface="Mongolian Baiti" panose="03000500000000000000" pitchFamily="66" charset="0"/>
              </a:rPr>
              <a:t>Sheeran</a:t>
            </a:r>
            <a:r>
              <a:rPr lang="en-US" sz="2400" b="1" dirty="0">
                <a:solidFill>
                  <a:schemeClr val="accent6">
                    <a:lumMod val="40000"/>
                    <a:lumOff val="60000"/>
                  </a:schemeClr>
                </a:solidFill>
                <a:effectLst>
                  <a:outerShdw blurRad="38100" dist="38100" dir="2700000" algn="tl">
                    <a:srgbClr val="000000">
                      <a:alpha val="43137"/>
                    </a:srgbClr>
                  </a:outerShdw>
                </a:effectLst>
                <a:latin typeface="Mongolian Baiti" panose="03000500000000000000" pitchFamily="66" charset="0"/>
                <a:cs typeface="Mongolian Baiti" panose="03000500000000000000" pitchFamily="66" charset="0"/>
              </a:rPr>
              <a:t> </a:t>
            </a:r>
            <a:r>
              <a:rPr lang="en-US" sz="2400" b="1" dirty="0" smtClean="0">
                <a:solidFill>
                  <a:schemeClr val="accent6">
                    <a:lumMod val="40000"/>
                    <a:lumOff val="60000"/>
                  </a:schemeClr>
                </a:solidFill>
                <a:effectLst>
                  <a:outerShdw blurRad="38100" dist="38100" dir="2700000" algn="tl">
                    <a:srgbClr val="000000">
                      <a:alpha val="43137"/>
                    </a:srgbClr>
                  </a:outerShdw>
                </a:effectLst>
                <a:latin typeface="Mongolian Baiti" panose="03000500000000000000" pitchFamily="66" charset="0"/>
                <a:cs typeface="Mongolian Baiti" panose="03000500000000000000" pitchFamily="66" charset="0"/>
              </a:rPr>
              <a:t>comes third then other artists.</a:t>
            </a:r>
          </a:p>
          <a:p>
            <a:pPr algn="ctr"/>
            <a:endParaRPr lang="en-US" sz="2800" dirty="0">
              <a:solidFill>
                <a:schemeClr val="accent6">
                  <a:lumMod val="40000"/>
                  <a:lumOff val="60000"/>
                </a:schemeClr>
              </a:solidFill>
              <a:latin typeface="Newtimes"/>
            </a:endParaRPr>
          </a:p>
        </p:txBody>
      </p:sp>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4265" y="230325"/>
            <a:ext cx="6240090" cy="5963509"/>
          </a:xfrm>
          <a:prstGeom prst="rect">
            <a:avLst/>
          </a:prstGeom>
          <a:ln>
            <a:noFill/>
          </a:ln>
          <a:effectLst>
            <a:softEdge rad="112500"/>
          </a:effectLst>
        </p:spPr>
      </p:pic>
    </p:spTree>
    <p:extLst>
      <p:ext uri="{BB962C8B-B14F-4D97-AF65-F5344CB8AC3E}">
        <p14:creationId xmlns:p14="http://schemas.microsoft.com/office/powerpoint/2010/main" val="254745499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rgbClr val="00B050"/>
            </a:gs>
            <a:gs pos="44000">
              <a:schemeClr val="tx1"/>
            </a:gs>
            <a:gs pos="92857">
              <a:schemeClr val="tx1"/>
            </a:gs>
            <a:gs pos="86000">
              <a:srgbClr val="0C6434">
                <a:lumMod val="70000"/>
              </a:srgbClr>
            </a:gs>
          </a:gsLst>
          <a:lin ang="5400000" scaled="1"/>
        </a:gradFill>
        <a:effectLst/>
      </p:bgPr>
    </p:bg>
    <p:spTree>
      <p:nvGrpSpPr>
        <p:cNvPr id="1" name=""/>
        <p:cNvGrpSpPr/>
        <p:nvPr/>
      </p:nvGrpSpPr>
      <p:grpSpPr>
        <a:xfrm>
          <a:off x="0" y="0"/>
          <a:ext cx="0" cy="0"/>
          <a:chOff x="0" y="0"/>
          <a:chExt cx="0" cy="0"/>
        </a:xfrm>
      </p:grpSpPr>
      <p:sp>
        <p:nvSpPr>
          <p:cNvPr id="12" name="Rectangle 11"/>
          <p:cNvSpPr/>
          <p:nvPr/>
        </p:nvSpPr>
        <p:spPr>
          <a:xfrm>
            <a:off x="-22861" y="0"/>
            <a:ext cx="12260580" cy="542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flipH="1">
            <a:off x="-22861" y="0"/>
            <a:ext cx="4571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flipH="1">
            <a:off x="12169141" y="0"/>
            <a:ext cx="68578" cy="679706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p:cNvPicPr>
            <a:picLocks noChangeAspect="1"/>
          </p:cNvPicPr>
          <p:nvPr/>
        </p:nvPicPr>
        <p:blipFill>
          <a:blip r:embed="rId2" cstate="print">
            <a:extLst>
              <a:ext uri="{BEBA8EAE-BF5A-486C-A8C5-ECC9F3942E4B}">
                <a14:imgProps xmlns:a14="http://schemas.microsoft.com/office/drawing/2010/main">
                  <a14:imgLayer r:embed="rId3">
                    <a14:imgEffect>
                      <a14:sharpenSoften amount="60000"/>
                    </a14:imgEffect>
                    <a14:imgEffect>
                      <a14:brightnessContrast bright="-92000"/>
                    </a14:imgEffect>
                  </a14:imgLayer>
                </a14:imgProps>
              </a:ext>
              <a:ext uri="{28A0092B-C50C-407E-A947-70E740481C1C}">
                <a14:useLocalDpi xmlns:a14="http://schemas.microsoft.com/office/drawing/2010/main" val="0"/>
              </a:ext>
            </a:extLst>
          </a:blip>
          <a:stretch>
            <a:fillRect/>
          </a:stretch>
        </p:blipFill>
        <p:spPr>
          <a:xfrm>
            <a:off x="2849583" y="533008"/>
            <a:ext cx="6515692" cy="3703801"/>
          </a:xfrm>
          <a:prstGeom prst="rect">
            <a:avLst/>
          </a:prstGeom>
          <a:ln>
            <a:noFill/>
          </a:ln>
          <a:effectLst>
            <a:outerShdw blurRad="292100" dist="139700" dir="2700000" algn="tl" rotWithShape="0">
              <a:srgbClr val="333333">
                <a:alpha val="65000"/>
              </a:srgbClr>
            </a:outerShdw>
          </a:effectLst>
        </p:spPr>
      </p:pic>
      <p:sp>
        <p:nvSpPr>
          <p:cNvPr id="10" name="Title 9"/>
          <p:cNvSpPr>
            <a:spLocks noGrp="1"/>
          </p:cNvSpPr>
          <p:nvPr>
            <p:ph type="title"/>
          </p:nvPr>
        </p:nvSpPr>
        <p:spPr>
          <a:xfrm>
            <a:off x="45719" y="6012240"/>
            <a:ext cx="10515600" cy="784823"/>
          </a:xfrm>
        </p:spPr>
        <p:txBody>
          <a:bodyPr>
            <a:normAutofit/>
          </a:bodyPr>
          <a:lstStyle/>
          <a:p>
            <a:r>
              <a:rPr lang="en-US" sz="1800" b="1" dirty="0" smtClean="0">
                <a:solidFill>
                  <a:schemeClr val="accent3"/>
                </a:solidFill>
                <a:latin typeface="+mn-lt"/>
              </a:rPr>
              <a:t>Dataset source: </a:t>
            </a:r>
            <a:r>
              <a:rPr lang="en-US" sz="1800" b="1" dirty="0" smtClean="0">
                <a:solidFill>
                  <a:schemeClr val="accent3"/>
                </a:solidFill>
                <a:latin typeface="+mn-lt"/>
                <a:hlinkClick r:id="rId4"/>
              </a:rPr>
              <a:t>https://www.kaggle.com/Spotify-2023</a:t>
            </a:r>
            <a:r>
              <a:rPr lang="en-US" sz="1800" b="1" dirty="0" smtClean="0">
                <a:solidFill>
                  <a:schemeClr val="accent3"/>
                </a:solidFill>
                <a:latin typeface="+mn-lt"/>
              </a:rPr>
              <a:t> </a:t>
            </a:r>
            <a:r>
              <a:rPr lang="en-US" sz="1800" b="1" dirty="0" smtClean="0">
                <a:solidFill>
                  <a:schemeClr val="tx1">
                    <a:lumMod val="65000"/>
                    <a:lumOff val="35000"/>
                  </a:schemeClr>
                </a:solidFill>
                <a:latin typeface="+mn-lt"/>
              </a:rPr>
              <a:t>updated: 17/12/2023</a:t>
            </a:r>
            <a:endParaRPr lang="en-US" sz="1800" b="1" dirty="0">
              <a:solidFill>
                <a:schemeClr val="tx1">
                  <a:lumMod val="65000"/>
                  <a:lumOff val="35000"/>
                </a:schemeClr>
              </a:solidFill>
              <a:latin typeface="+mn-lt"/>
            </a:endParaRPr>
          </a:p>
        </p:txBody>
      </p:sp>
      <p:sp>
        <p:nvSpPr>
          <p:cNvPr id="3" name="Rounded Rectangle 2"/>
          <p:cNvSpPr/>
          <p:nvPr/>
        </p:nvSpPr>
        <p:spPr>
          <a:xfrm>
            <a:off x="250914" y="290731"/>
            <a:ext cx="11713029" cy="5863771"/>
          </a:xfrm>
          <a:prstGeom prst="roundRect">
            <a:avLst>
              <a:gd name="adj" fmla="val 4538"/>
            </a:avLst>
          </a:prstGeom>
          <a:gradFill>
            <a:gsLst>
              <a:gs pos="0">
                <a:srgbClr val="00B050">
                  <a:alpha val="25000"/>
                  <a:lumMod val="17000"/>
                </a:srgbClr>
              </a:gs>
              <a:gs pos="0">
                <a:schemeClr val="tx1"/>
              </a:gs>
              <a:gs pos="92857">
                <a:schemeClr val="tx1"/>
              </a:gs>
              <a:gs pos="86000">
                <a:srgbClr val="0C6434">
                  <a:lumMod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smtClean="0">
                <a:effectLst>
                  <a:outerShdw blurRad="38100" dist="38100" dir="2700000" algn="tl">
                    <a:srgbClr val="000000">
                      <a:alpha val="43137"/>
                    </a:srgbClr>
                  </a:outerShdw>
                </a:effectLst>
                <a:latin typeface="Mongolian Baiti" panose="03000500000000000000" pitchFamily="66" charset="0"/>
                <a:cs typeface="Mongolian Baiti" panose="03000500000000000000" pitchFamily="66" charset="0"/>
              </a:rPr>
              <a:t>RECOMMENDATIONS</a:t>
            </a:r>
          </a:p>
          <a:p>
            <a:pPr algn="ctr"/>
            <a:endParaRPr lang="en-US" b="1" dirty="0" smtClean="0">
              <a:effectLst>
                <a:outerShdw blurRad="38100" dist="38100" dir="2700000" algn="tl">
                  <a:srgbClr val="000000">
                    <a:alpha val="43137"/>
                  </a:srgbClr>
                </a:outerShdw>
              </a:effectLst>
              <a:latin typeface="Newtimes"/>
            </a:endParaRPr>
          </a:p>
          <a:p>
            <a:r>
              <a:rPr lang="en-US" b="1" dirty="0" smtClean="0">
                <a:effectLst>
                  <a:outerShdw blurRad="38100" dist="38100" dir="2700000" algn="tl">
                    <a:srgbClr val="000000">
                      <a:alpha val="43137"/>
                    </a:srgbClr>
                  </a:outerShdw>
                </a:effectLst>
                <a:latin typeface="Mongolian Baiti" panose="03000500000000000000" pitchFamily="66" charset="0"/>
                <a:cs typeface="Mongolian Baiti" panose="03000500000000000000" pitchFamily="66" charset="0"/>
              </a:rPr>
              <a:t>When I was looking for data to work on for this PowerBI project, I stumbled upon this Spotify data first and I thought “yes everyone likes music” so I decided to try it out.</a:t>
            </a:r>
          </a:p>
          <a:p>
            <a:r>
              <a:rPr lang="en-US" b="1" dirty="0" smtClean="0">
                <a:effectLst>
                  <a:outerShdw blurRad="38100" dist="38100" dir="2700000" algn="tl">
                    <a:srgbClr val="000000">
                      <a:alpha val="43137"/>
                    </a:srgbClr>
                  </a:outerShdw>
                </a:effectLst>
                <a:latin typeface="Mongolian Baiti" panose="03000500000000000000" pitchFamily="66" charset="0"/>
                <a:cs typeface="Mongolian Baiti" panose="03000500000000000000" pitchFamily="66" charset="0"/>
              </a:rPr>
              <a:t>My recommendations would have been to artists only but I can see I have three groups to speak to about this analysis.</a:t>
            </a:r>
          </a:p>
          <a:p>
            <a:endParaRPr lang="en-US" b="1" dirty="0" smtClean="0">
              <a:effectLst>
                <a:outerShdw blurRad="38100" dist="38100" dir="2700000" algn="tl">
                  <a:srgbClr val="000000">
                    <a:alpha val="43137"/>
                  </a:srgbClr>
                </a:outerShdw>
              </a:effectLst>
              <a:latin typeface="Mongolian Baiti" panose="03000500000000000000" pitchFamily="66" charset="0"/>
              <a:cs typeface="Mongolian Baiti" panose="03000500000000000000" pitchFamily="66" charset="0"/>
            </a:endParaRPr>
          </a:p>
          <a:p>
            <a:pPr marL="285750" indent="-285750">
              <a:buFont typeface="Wingdings" panose="05000000000000000000" pitchFamily="2" charset="2"/>
              <a:buChar char="ü"/>
            </a:pPr>
            <a:r>
              <a:rPr lang="en-US" b="1" dirty="0" smtClean="0">
                <a:effectLst>
                  <a:outerShdw blurRad="38100" dist="38100" dir="2700000" algn="tl">
                    <a:srgbClr val="000000">
                      <a:alpha val="43137"/>
                    </a:srgbClr>
                  </a:outerShdw>
                </a:effectLst>
                <a:latin typeface="Mongolian Baiti" panose="03000500000000000000" pitchFamily="66" charset="0"/>
                <a:cs typeface="Mongolian Baiti" panose="03000500000000000000" pitchFamily="66" charset="0"/>
              </a:rPr>
              <a:t>First, Spotify needs to add more music, they need to look into African music especially the Nigerian afro type of music because from my analysis, there are very limited number of artists from Africa on </a:t>
            </a:r>
            <a:r>
              <a:rPr lang="en-US" b="1" dirty="0">
                <a:effectLst>
                  <a:outerShdw blurRad="38100" dist="38100" dir="2700000" algn="tl">
                    <a:srgbClr val="000000">
                      <a:alpha val="43137"/>
                    </a:srgbClr>
                  </a:outerShdw>
                </a:effectLst>
                <a:latin typeface="Mongolian Baiti" panose="03000500000000000000" pitchFamily="66" charset="0"/>
                <a:cs typeface="Mongolian Baiti" panose="03000500000000000000" pitchFamily="66" charset="0"/>
              </a:rPr>
              <a:t>S</a:t>
            </a:r>
            <a:r>
              <a:rPr lang="en-US" b="1" dirty="0" smtClean="0">
                <a:effectLst>
                  <a:outerShdw blurRad="38100" dist="38100" dir="2700000" algn="tl">
                    <a:srgbClr val="000000">
                      <a:alpha val="43137"/>
                    </a:srgbClr>
                  </a:outerShdw>
                </a:effectLst>
                <a:latin typeface="Mongolian Baiti" panose="03000500000000000000" pitchFamily="66" charset="0"/>
                <a:cs typeface="Mongolian Baiti" panose="03000500000000000000" pitchFamily="66" charset="0"/>
              </a:rPr>
              <a:t>potify. They need to create more awareness about this platform so that they can get upcoming artist to place their songs on their platform.</a:t>
            </a:r>
          </a:p>
          <a:p>
            <a:endParaRPr lang="en-US" b="1" dirty="0" smtClean="0">
              <a:effectLst>
                <a:outerShdw blurRad="38100" dist="38100" dir="2700000" algn="tl">
                  <a:srgbClr val="000000">
                    <a:alpha val="43137"/>
                  </a:srgbClr>
                </a:outerShdw>
              </a:effectLst>
              <a:latin typeface="Mongolian Baiti" panose="03000500000000000000" pitchFamily="66" charset="0"/>
              <a:cs typeface="Mongolian Baiti" panose="03000500000000000000" pitchFamily="66" charset="0"/>
            </a:endParaRPr>
          </a:p>
          <a:p>
            <a:pPr marL="285750" indent="-285750">
              <a:buFont typeface="Wingdings" panose="05000000000000000000" pitchFamily="2" charset="2"/>
              <a:buChar char="ü"/>
            </a:pPr>
            <a:r>
              <a:rPr lang="en-US" b="1" dirty="0" smtClean="0">
                <a:effectLst>
                  <a:outerShdw blurRad="38100" dist="38100" dir="2700000" algn="tl">
                    <a:srgbClr val="000000">
                      <a:alpha val="43137"/>
                    </a:srgbClr>
                  </a:outerShdw>
                </a:effectLst>
                <a:latin typeface="Mongolian Baiti" panose="03000500000000000000" pitchFamily="66" charset="0"/>
                <a:cs typeface="Mongolian Baiti" panose="03000500000000000000" pitchFamily="66" charset="0"/>
              </a:rPr>
              <a:t>Secondly, to artists. As an upcoming artist, the era of selling your music through compact disk(CD) has ended and the only way you can get your music to the public and make some money is by placing them on this platforms, especially Spotify.</a:t>
            </a:r>
          </a:p>
          <a:p>
            <a:endParaRPr lang="en-US" b="1" dirty="0" smtClean="0">
              <a:effectLst>
                <a:outerShdw blurRad="38100" dist="38100" dir="2700000" algn="tl">
                  <a:srgbClr val="000000">
                    <a:alpha val="43137"/>
                  </a:srgbClr>
                </a:outerShdw>
              </a:effectLst>
              <a:latin typeface="Mongolian Baiti" panose="03000500000000000000" pitchFamily="66" charset="0"/>
              <a:cs typeface="Mongolian Baiti" panose="03000500000000000000" pitchFamily="66" charset="0"/>
            </a:endParaRPr>
          </a:p>
          <a:p>
            <a:pPr marL="285750" indent="-285750">
              <a:buFont typeface="Wingdings" panose="05000000000000000000" pitchFamily="2" charset="2"/>
              <a:buChar char="ü"/>
            </a:pPr>
            <a:r>
              <a:rPr lang="en-US" b="1" dirty="0" smtClean="0">
                <a:effectLst>
                  <a:outerShdw blurRad="38100" dist="38100" dir="2700000" algn="tl">
                    <a:srgbClr val="000000">
                      <a:alpha val="43137"/>
                    </a:srgbClr>
                  </a:outerShdw>
                </a:effectLst>
                <a:latin typeface="Mongolian Baiti" panose="03000500000000000000" pitchFamily="66" charset="0"/>
                <a:cs typeface="Mongolian Baiti" panose="03000500000000000000" pitchFamily="66" charset="0"/>
              </a:rPr>
              <a:t>Lastly, we music lovers are limited to using memory cards which is less likely to exist in the next 5 years. We need to go to these platforms and stream our latest songs so we can have our own favorite artist on the top lists. It is love we are sharing and I believe the only way to show our favorites love is by streaming our favorite music through platforms like Spotify.</a:t>
            </a:r>
            <a:endParaRPr lang="en-US" b="1" dirty="0">
              <a:effectLst>
                <a:outerShdw blurRad="38100" dist="38100" dir="2700000" algn="tl">
                  <a:srgbClr val="000000">
                    <a:alpha val="43137"/>
                  </a:srgbClr>
                </a:outerShdw>
              </a:effectLst>
              <a:latin typeface="Mongolian Baiti" panose="03000500000000000000" pitchFamily="66" charset="0"/>
              <a:cs typeface="Mongolian Baiti" panose="03000500000000000000" pitchFamily="66" charset="0"/>
            </a:endParaRPr>
          </a:p>
          <a:p>
            <a:pPr algn="ctr"/>
            <a:endParaRPr lang="en-US" sz="3200" b="1" dirty="0">
              <a:effectLst>
                <a:outerShdw blurRad="38100" dist="38100" dir="2700000" algn="tl">
                  <a:srgbClr val="000000">
                    <a:alpha val="43137"/>
                  </a:srgbClr>
                </a:outerShdw>
              </a:effectLst>
              <a:latin typeface="Newtimes"/>
            </a:endParaRPr>
          </a:p>
        </p:txBody>
      </p:sp>
    </p:spTree>
    <p:extLst>
      <p:ext uri="{BB962C8B-B14F-4D97-AF65-F5344CB8AC3E}">
        <p14:creationId xmlns:p14="http://schemas.microsoft.com/office/powerpoint/2010/main" val="48765303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rgbClr val="00B050"/>
            </a:gs>
            <a:gs pos="71000">
              <a:schemeClr val="tx1"/>
            </a:gs>
            <a:gs pos="92857">
              <a:schemeClr val="tx1"/>
            </a:gs>
            <a:gs pos="86000">
              <a:srgbClr val="0C6434">
                <a:lumMod val="70000"/>
              </a:srgbClr>
            </a:gs>
            <a:gs pos="63000">
              <a:schemeClr val="bg2">
                <a:lumMod val="0"/>
              </a:schemeClr>
            </a:gs>
          </a:gsLst>
          <a:lin ang="5400000" scaled="1"/>
        </a:gradFill>
        <a:effectLst/>
      </p:bgPr>
    </p:bg>
    <p:spTree>
      <p:nvGrpSpPr>
        <p:cNvPr id="1" name=""/>
        <p:cNvGrpSpPr/>
        <p:nvPr/>
      </p:nvGrpSpPr>
      <p:grpSpPr>
        <a:xfrm>
          <a:off x="0" y="0"/>
          <a:ext cx="0" cy="0"/>
          <a:chOff x="0" y="0"/>
          <a:chExt cx="0" cy="0"/>
        </a:xfrm>
      </p:grpSpPr>
      <p:sp>
        <p:nvSpPr>
          <p:cNvPr id="12" name="Rectangle 11"/>
          <p:cNvSpPr/>
          <p:nvPr/>
        </p:nvSpPr>
        <p:spPr>
          <a:xfrm>
            <a:off x="-22861" y="0"/>
            <a:ext cx="12260580" cy="54282"/>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flipH="1">
            <a:off x="-22861" y="0"/>
            <a:ext cx="4571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flipH="1">
            <a:off x="12191999" y="0"/>
            <a:ext cx="4571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9"/>
          <p:cNvSpPr>
            <a:spLocks noGrp="1"/>
          </p:cNvSpPr>
          <p:nvPr>
            <p:ph type="title"/>
          </p:nvPr>
        </p:nvSpPr>
        <p:spPr>
          <a:xfrm>
            <a:off x="45719" y="6012240"/>
            <a:ext cx="10515600" cy="784823"/>
          </a:xfrm>
        </p:spPr>
        <p:txBody>
          <a:bodyPr>
            <a:normAutofit/>
          </a:bodyPr>
          <a:lstStyle/>
          <a:p>
            <a:r>
              <a:rPr lang="en-US" sz="1800" b="1" dirty="0" smtClean="0">
                <a:solidFill>
                  <a:schemeClr val="accent3"/>
                </a:solidFill>
                <a:latin typeface="+mn-lt"/>
              </a:rPr>
              <a:t>Dataset source: </a:t>
            </a:r>
            <a:r>
              <a:rPr lang="en-US" sz="1800" b="1" dirty="0" smtClean="0">
                <a:solidFill>
                  <a:schemeClr val="accent3"/>
                </a:solidFill>
                <a:latin typeface="+mn-lt"/>
                <a:hlinkClick r:id="rId2"/>
              </a:rPr>
              <a:t>https://www.kaggle.com/Spotify-2023</a:t>
            </a:r>
            <a:r>
              <a:rPr lang="en-US" sz="1800" b="1" dirty="0" smtClean="0">
                <a:solidFill>
                  <a:schemeClr val="accent3"/>
                </a:solidFill>
                <a:latin typeface="+mn-lt"/>
              </a:rPr>
              <a:t> </a:t>
            </a:r>
            <a:r>
              <a:rPr lang="en-US" sz="1800" b="1" dirty="0" smtClean="0">
                <a:solidFill>
                  <a:schemeClr val="tx1">
                    <a:lumMod val="65000"/>
                    <a:lumOff val="35000"/>
                  </a:schemeClr>
                </a:solidFill>
                <a:latin typeface="+mn-lt"/>
              </a:rPr>
              <a:t>updated: 17/12/2023</a:t>
            </a:r>
            <a:endParaRPr lang="en-US" sz="1800" b="1" dirty="0">
              <a:solidFill>
                <a:schemeClr val="tx1">
                  <a:lumMod val="65000"/>
                  <a:lumOff val="35000"/>
                </a:schemeClr>
              </a:solidFill>
              <a:latin typeface="+mn-lt"/>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 y="27140"/>
            <a:ext cx="12146280" cy="6176711"/>
          </a:xfrm>
          <a:prstGeom prst="rect">
            <a:avLst/>
          </a:prstGeom>
        </p:spPr>
      </p:pic>
    </p:spTree>
    <p:extLst>
      <p:ext uri="{BB962C8B-B14F-4D97-AF65-F5344CB8AC3E}">
        <p14:creationId xmlns:p14="http://schemas.microsoft.com/office/powerpoint/2010/main" val="423704198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rgbClr val="00B050"/>
            </a:gs>
            <a:gs pos="71000">
              <a:schemeClr val="tx1"/>
            </a:gs>
            <a:gs pos="92857">
              <a:schemeClr val="tx1"/>
            </a:gs>
            <a:gs pos="86000">
              <a:srgbClr val="0C6434">
                <a:lumMod val="70000"/>
              </a:srgbClr>
            </a:gs>
            <a:gs pos="0">
              <a:schemeClr val="bg2">
                <a:lumMod val="0"/>
              </a:schemeClr>
            </a:gs>
          </a:gsLst>
          <a:lin ang="5400000" scaled="1"/>
        </a:gradFill>
        <a:effectLst/>
      </p:bgPr>
    </p:bg>
    <p:spTree>
      <p:nvGrpSpPr>
        <p:cNvPr id="1" name=""/>
        <p:cNvGrpSpPr/>
        <p:nvPr/>
      </p:nvGrpSpPr>
      <p:grpSpPr>
        <a:xfrm>
          <a:off x="0" y="0"/>
          <a:ext cx="0" cy="0"/>
          <a:chOff x="0" y="0"/>
          <a:chExt cx="0" cy="0"/>
        </a:xfrm>
      </p:grpSpPr>
      <p:sp>
        <p:nvSpPr>
          <p:cNvPr id="12" name="Rectangle 11"/>
          <p:cNvSpPr/>
          <p:nvPr/>
        </p:nvSpPr>
        <p:spPr>
          <a:xfrm>
            <a:off x="-22861" y="0"/>
            <a:ext cx="12260580" cy="54282"/>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flipH="1">
            <a:off x="-22861" y="0"/>
            <a:ext cx="4571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flipH="1">
            <a:off x="12169141" y="0"/>
            <a:ext cx="68578" cy="679706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9"/>
          <p:cNvSpPr>
            <a:spLocks noGrp="1"/>
          </p:cNvSpPr>
          <p:nvPr>
            <p:ph type="title"/>
          </p:nvPr>
        </p:nvSpPr>
        <p:spPr>
          <a:xfrm>
            <a:off x="45719" y="6012240"/>
            <a:ext cx="10515600" cy="784823"/>
          </a:xfrm>
        </p:spPr>
        <p:txBody>
          <a:bodyPr>
            <a:normAutofit/>
          </a:bodyPr>
          <a:lstStyle/>
          <a:p>
            <a:r>
              <a:rPr lang="en-US" sz="1800" b="1" dirty="0" smtClean="0">
                <a:solidFill>
                  <a:schemeClr val="accent3"/>
                </a:solidFill>
                <a:latin typeface="+mn-lt"/>
              </a:rPr>
              <a:t>Dataset source: </a:t>
            </a:r>
            <a:r>
              <a:rPr lang="en-US" sz="1800" b="1" dirty="0" smtClean="0">
                <a:solidFill>
                  <a:schemeClr val="accent3"/>
                </a:solidFill>
                <a:latin typeface="+mn-lt"/>
                <a:hlinkClick r:id="rId2"/>
              </a:rPr>
              <a:t>https://www.kaggle.com/Spotify-2023</a:t>
            </a:r>
            <a:r>
              <a:rPr lang="en-US" sz="1800" b="1" dirty="0" smtClean="0">
                <a:solidFill>
                  <a:schemeClr val="accent3"/>
                </a:solidFill>
                <a:latin typeface="+mn-lt"/>
              </a:rPr>
              <a:t> </a:t>
            </a:r>
            <a:r>
              <a:rPr lang="en-US" sz="1800" b="1" dirty="0" smtClean="0">
                <a:solidFill>
                  <a:schemeClr val="tx1">
                    <a:lumMod val="65000"/>
                    <a:lumOff val="35000"/>
                  </a:schemeClr>
                </a:solidFill>
                <a:latin typeface="+mn-lt"/>
              </a:rPr>
              <a:t>updated: 17/12/2023</a:t>
            </a:r>
            <a:endParaRPr lang="en-US" sz="1800" b="1" dirty="0">
              <a:solidFill>
                <a:schemeClr val="tx1">
                  <a:lumMod val="65000"/>
                  <a:lumOff val="35000"/>
                </a:schemeClr>
              </a:solidFill>
              <a:latin typeface="+mn-lt"/>
            </a:endParaRPr>
          </a:p>
        </p:txBody>
      </p:sp>
      <p:pic>
        <p:nvPicPr>
          <p:cNvPr id="2" name="Picture 1"/>
          <p:cNvPicPr>
            <a:picLocks noChangeAspect="1"/>
          </p:cNvPicPr>
          <p:nvPr/>
        </p:nvPicPr>
        <p:blipFill>
          <a:blip r:embed="rId3" cstate="print">
            <a:extLst>
              <a:ext uri="{BEBA8EAE-BF5A-486C-A8C5-ECC9F3942E4B}">
                <a14:imgProps xmlns:a14="http://schemas.microsoft.com/office/drawing/2010/main">
                  <a14:imgLayer r:embed="rId4">
                    <a14:imgEffect>
                      <a14:sharpenSoften amount="15000"/>
                    </a14:imgEffect>
                    <a14:imgEffect>
                      <a14:brightnessContrast bright="-75000"/>
                    </a14:imgEffect>
                  </a14:imgLayer>
                </a14:imgProps>
              </a:ext>
              <a:ext uri="{28A0092B-C50C-407E-A947-70E740481C1C}">
                <a14:useLocalDpi xmlns:a14="http://schemas.microsoft.com/office/drawing/2010/main" val="0"/>
              </a:ext>
            </a:extLst>
          </a:blip>
          <a:stretch>
            <a:fillRect/>
          </a:stretch>
        </p:blipFill>
        <p:spPr>
          <a:xfrm>
            <a:off x="20720" y="54282"/>
            <a:ext cx="12084232" cy="6114289"/>
          </a:xfrm>
          <a:prstGeom prst="roundRect">
            <a:avLst>
              <a:gd name="adj" fmla="val 3497"/>
            </a:avLst>
          </a:prstGeom>
          <a:solidFill>
            <a:srgbClr val="FFFFFF">
              <a:shade val="85000"/>
            </a:srgbClr>
          </a:solidFill>
          <a:ln>
            <a:noFill/>
          </a:ln>
          <a:effectLst>
            <a:reflection blurRad="12700" stA="38000" endPos="28000" dist="5000" dir="5400000" sy="-100000" algn="bl" rotWithShape="0"/>
          </a:effectLst>
        </p:spPr>
      </p:pic>
      <p:pic>
        <p:nvPicPr>
          <p:cNvPr id="9" name="Picture 8"/>
          <p:cNvPicPr>
            <a:picLocks noChangeAspect="1"/>
          </p:cNvPicPr>
          <p:nvPr/>
        </p:nvPicPr>
        <p:blipFill>
          <a:blip r:embed="rId5" cstate="print">
            <a:extLst>
              <a:ext uri="{BEBA8EAE-BF5A-486C-A8C5-ECC9F3942E4B}">
                <a14:imgProps xmlns:a14="http://schemas.microsoft.com/office/drawing/2010/main">
                  <a14:imgLayer r:embed="rId6">
                    <a14:imgEffect>
                      <a14:sharpenSoften amount="60000"/>
                    </a14:imgEffect>
                    <a14:imgEffect>
                      <a14:brightnessContrast bright="-53000"/>
                    </a14:imgEffect>
                  </a14:imgLayer>
                </a14:imgProps>
              </a:ext>
              <a:ext uri="{28A0092B-C50C-407E-A947-70E740481C1C}">
                <a14:useLocalDpi xmlns:a14="http://schemas.microsoft.com/office/drawing/2010/main" val="0"/>
              </a:ext>
            </a:extLst>
          </a:blip>
          <a:stretch>
            <a:fillRect/>
          </a:stretch>
        </p:blipFill>
        <p:spPr>
          <a:xfrm>
            <a:off x="20720" y="304798"/>
            <a:ext cx="1860736" cy="1057725"/>
          </a:xfrm>
          <a:prstGeom prst="rect">
            <a:avLst/>
          </a:prstGeom>
          <a:ln>
            <a:noFill/>
          </a:ln>
          <a:effectLst>
            <a:outerShdw blurRad="292100" dist="139700" dir="2700000" algn="tl" rotWithShape="0">
              <a:srgbClr val="333333">
                <a:alpha val="65000"/>
              </a:srgbClr>
            </a:outerShdw>
          </a:effectLst>
        </p:spPr>
      </p:pic>
      <p:sp>
        <p:nvSpPr>
          <p:cNvPr id="5" name="TextBox 4"/>
          <p:cNvSpPr txBox="1"/>
          <p:nvPr/>
        </p:nvSpPr>
        <p:spPr>
          <a:xfrm>
            <a:off x="4302332" y="3934558"/>
            <a:ext cx="4934856" cy="769441"/>
          </a:xfrm>
          <a:prstGeom prst="rect">
            <a:avLst/>
          </a:prstGeom>
          <a:noFill/>
        </p:spPr>
        <p:txBody>
          <a:bodyPr wrap="square" rtlCol="0">
            <a:spAutoFit/>
          </a:bodyPr>
          <a:lstStyle/>
          <a:p>
            <a:r>
              <a:rPr lang="en-US" sz="4400" b="1" dirty="0" smtClean="0">
                <a:solidFill>
                  <a:schemeClr val="bg1"/>
                </a:solidFill>
                <a:latin typeface="French Script MT" panose="03020402040607040605" pitchFamily="66" charset="0"/>
                <a:cs typeface="Mongolian Baiti" panose="03000500000000000000" pitchFamily="66" charset="0"/>
              </a:rPr>
              <a:t>T</a:t>
            </a:r>
            <a:r>
              <a:rPr lang="en-US" sz="4000" b="1" dirty="0" smtClean="0">
                <a:solidFill>
                  <a:schemeClr val="bg1"/>
                </a:solidFill>
                <a:latin typeface="Mongolian Baiti" panose="03000500000000000000" pitchFamily="66" charset="0"/>
                <a:cs typeface="Mongolian Baiti" panose="03000500000000000000" pitchFamily="66" charset="0"/>
              </a:rPr>
              <a:t>HANK </a:t>
            </a:r>
            <a:r>
              <a:rPr lang="en-US" sz="4000" b="1" dirty="0" smtClean="0">
                <a:solidFill>
                  <a:schemeClr val="bg1"/>
                </a:solidFill>
                <a:latin typeface="French Script MT" panose="03020402040607040605" pitchFamily="66" charset="0"/>
                <a:cs typeface="Mongolian Baiti" panose="03000500000000000000" pitchFamily="66" charset="0"/>
              </a:rPr>
              <a:t>Y</a:t>
            </a:r>
            <a:r>
              <a:rPr lang="en-US" sz="4000" b="1" dirty="0" smtClean="0">
                <a:solidFill>
                  <a:schemeClr val="bg1"/>
                </a:solidFill>
                <a:latin typeface="Mongolian Baiti" panose="03000500000000000000" pitchFamily="66" charset="0"/>
                <a:cs typeface="Mongolian Baiti" panose="03000500000000000000" pitchFamily="66" charset="0"/>
              </a:rPr>
              <a:t>OU</a:t>
            </a:r>
            <a:endParaRPr lang="en-US" sz="4000" b="1" dirty="0">
              <a:solidFill>
                <a:schemeClr val="bg1"/>
              </a:solidFill>
              <a:latin typeface="Mongolian Baiti" panose="03000500000000000000" pitchFamily="66" charset="0"/>
              <a:cs typeface="Mongolian Baiti" panose="03000500000000000000" pitchFamily="66" charset="0"/>
            </a:endParaRPr>
          </a:p>
        </p:txBody>
      </p:sp>
    </p:spTree>
    <p:extLst>
      <p:ext uri="{BB962C8B-B14F-4D97-AF65-F5344CB8AC3E}">
        <p14:creationId xmlns:p14="http://schemas.microsoft.com/office/powerpoint/2010/main" val="299774069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302</TotalTime>
  <Words>756</Words>
  <Application>Microsoft Office PowerPoint</Application>
  <PresentationFormat>Widescreen</PresentationFormat>
  <Paragraphs>46</Paragraphs>
  <Slides>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Microsoft YaHei UI</vt:lpstr>
      <vt:lpstr>Arial</vt:lpstr>
      <vt:lpstr>Calibri</vt:lpstr>
      <vt:lpstr>Calibri Light</vt:lpstr>
      <vt:lpstr>French Script MT</vt:lpstr>
      <vt:lpstr>Mongolian Baiti</vt:lpstr>
      <vt:lpstr>Newtimes</vt:lpstr>
      <vt:lpstr>Wingdings</vt:lpstr>
      <vt:lpstr>Office Theme</vt:lpstr>
      <vt:lpstr>Dataset source: https://www.kaggle.com/Spotify-2023 updated: 17/12/2023</vt:lpstr>
      <vt:lpstr>Dataset source: https://www.kaggle.com/Spotify-2023 updated: 17/12/2023</vt:lpstr>
      <vt:lpstr>Dataset source: https://www.kaggle.com/Spotify-2023 updated: 17/12/2023</vt:lpstr>
      <vt:lpstr>Dataset source: https://www.kaggle.com/Spotify-2023 updated: 17/12/2023</vt:lpstr>
      <vt:lpstr>Dataset source: https://www.kaggle.com/Spotify-2023 updated: 17/12/2023</vt:lpstr>
      <vt:lpstr>Dataset source: https://www.kaggle.com/Spotify-2023 updated: 17/12/2023</vt:lpstr>
      <vt:lpstr>Dataset source: https://www.kaggle.com/Spotify-2023 updated: 17/12/2023</vt:lpstr>
      <vt:lpstr>Dataset source: https://www.kaggle.com/Spotify-2023 updated: 17/12/2023</vt:lpstr>
      <vt:lpstr>Dataset source: https://www.kaggle.com/Spotify-2023 updated: 17/12/2023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USER</cp:lastModifiedBy>
  <cp:revision>28</cp:revision>
  <dcterms:created xsi:type="dcterms:W3CDTF">2023-12-28T10:20:54Z</dcterms:created>
  <dcterms:modified xsi:type="dcterms:W3CDTF">2024-01-14T11:56:21Z</dcterms:modified>
</cp:coreProperties>
</file>